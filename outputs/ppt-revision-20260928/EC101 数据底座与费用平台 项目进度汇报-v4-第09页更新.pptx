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 marR="0" algn="l">
      <a:lnSpc>
        <a:spcPct val="100000"/>
      </a:lnSpc>
      <a:spcBef>
        <a:spcPts val="0"/>
      </a:spcBef>
      <a:spcAft>
        <a:spcPts val="0"/>
      </a:spcAft>
      <a:buNone/>
    </a:defPPr>
    <a:lvl1pPr marL="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buNone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</a:defRPr>
    </a:lvl1pPr>
    <a:lvl2pPr marL="4572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buNone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</a:defRPr>
    </a:lvl2pPr>
    <a:lvl3pPr marL="9144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buNone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</a:defRPr>
    </a:lvl3pPr>
    <a:lvl4pPr marL="13716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buNone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</a:defRPr>
    </a:lvl4pPr>
    <a:lvl5pPr marL="18288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buNone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</a:defRPr>
    </a:lvl5pPr>
    <a:lvl6pPr marL="22860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buNone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</a:defRPr>
    </a:lvl6pPr>
    <a:lvl7pPr marL="27432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buNone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</a:defRPr>
    </a:lvl7pPr>
    <a:lvl8pPr marL="32004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buNone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</a:defRPr>
    </a:lvl8pPr>
    <a:lvl9pPr marL="36576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buNone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 defTabSz="914400">
              <a:lnSpc>
                <a:spcPct val="100000"/>
              </a:lnSpc>
              <a:buNone/>
            </a:pPr>
            <a:endParaRPr sz="12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 defTabSz="914400">
              <a:lnSpc>
                <a:spcPct val="100000"/>
              </a:lnSpc>
              <a:buNone/>
            </a:pPr>
            <a:r>
              <a:rPr>
                <a:solidFill>
                  <a:srgbClr val="000000"/>
                </a:solidFill>
              </a:rPr>
              <a:t>各位好，下面由我介绍 EC101 项目 IT 这边的工作进展。</a:t>
            </a:r>
            <a:endParaRPr b="0" i="0" u="none" strike="noStrike">
              <a:solidFill>
                <a:srgbClr val="000000"/>
              </a:solidFill>
            </a:endParaRPr>
          </a:p>
          <a:p>
            <a:pPr marL="0" indent="0" algn="l" defTabSz="914400">
              <a:lnSpc>
                <a:spcPct val="100000"/>
              </a:lnSpc>
              <a:buNone/>
            </a:pPr>
            <a:r>
              <a:rPr>
                <a:solidFill>
                  <a:srgbClr val="000000"/>
                </a:solidFill>
              </a:rPr>
              <a:t>目前我们已经用部分经销商的真实数据，初步串起了从数据验证、入库到页面展示的流程，也能够展示一笔订单的优惠核对结果是怎么得出来的。</a:t>
            </a:r>
            <a:endParaRPr b="0" i="0" u="none" strike="noStrike">
              <a:solidFill>
                <a:srgbClr val="000000"/>
              </a:solidFill>
            </a:endParaRPr>
          </a:p>
          <a:p>
            <a:pPr marL="0" indent="0" algn="l" defTabSz="914400">
              <a:lnSpc>
                <a:spcPct val="100000"/>
              </a:lnSpc>
              <a:buNone/>
            </a:pPr>
            <a:r>
              <a:rPr>
                <a:solidFill>
                  <a:srgbClr val="000000"/>
                </a:solidFill>
              </a:rPr>
              <a:t>接下来重点是把现有流程完善成能够持续更新、重复运行的流程。整个工作分三个阶段：促销闭环验证、四层数据库、费用运营平台。下面按这三个阶段展开。</a:t>
            </a:r>
            <a:endParaRPr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阶段一是促销闭环验证：经销商提供的数据，能不能支撑我们核对活动执行情况。目前原计划覆盖 6 家先锋经销商，快马顺英、兴路强和舟谱羿柏已</a:t>
            </a:r>
            <a:r>
              <a:rPr sz="1400" b="0" i="0" u="none" strike="noStrike">
                <a:solidFill>
                  <a:srgbClr val="000000"/>
                </a:solidFill>
              </a:rPr>
              <a:t>完成费用闭环验证</a:t>
            </a:r>
            <a:r>
              <a:rPr sz="1400" b="0" i="0" u="none" strike="noStrike">
                <a:solidFill>
                  <a:srgbClr val="000000"/>
                </a:solidFill>
              </a:rPr>
              <a:t>，其余 3 家还需要补充数据。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阶段二是数据库建设：不同平台的数据怎样按统一口径保存和关联。目前快马和舟谱已经进入同一业务事实层和结果层，标准层主要完成了字段映射，标准化记录和质量检查还要补。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阶段三是费用运营平台：方便查看</a:t>
            </a:r>
            <a:r>
              <a:rPr sz="1400" b="0" i="0" u="none" strike="noStrike">
                <a:solidFill>
                  <a:srgbClr val="000000"/>
                </a:solidFill>
              </a:rPr>
              <a:t>数据</a:t>
            </a:r>
            <a:r>
              <a:rPr sz="1400" b="0" i="0" u="none" strike="noStrike">
                <a:solidFill>
                  <a:srgbClr val="000000"/>
                </a:solidFill>
              </a:rPr>
              <a:t>、核对和跟进。目前本地可以现场演示，正式投入使用前还要补登录、权限、审计和线上部署。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阶段一，我们先收集经销商平台的客户、商品、订单、活动明细和活动配置等资料，需要时再结合</a:t>
            </a:r>
            <a:r>
              <a:rPr sz="1400" b="0" i="0" u="none" strike="noStrike">
                <a:solidFill>
                  <a:srgbClr val="000000"/>
                </a:solidFill>
              </a:rPr>
              <a:t>业务员</a:t>
            </a:r>
            <a:r>
              <a:rPr sz="1400" b="0" i="0" u="none" strike="noStrike">
                <a:solidFill>
                  <a:srgbClr val="000000"/>
                </a:solidFill>
              </a:rPr>
              <a:t>或履约数据，检查这些信息能不能关联起来。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所谓闭环验证，可以用一笔订单理解。比如活动规则是"可口可乐指定商品满 300 元减 15 元"。我们要确认四件事：这笔订单是否在活动期间、是否参与了这个活动、参与活动的商品金额是否达到 300、平台实际记录的优惠是不是 15 元。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也就是说，我们一方面按活动规则算出这笔订单应该享受多少优惠，另一方面看平台实际给了多少，两边核对。有差异就继续查原因；如果缺活动配置、订单状态等关键信息，就暂时不形成结论，先补数据。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有了第一阶段的验证，为什么还要建设数据库？因为随着经销商、活动和数据批次增加，我们需要持续保存和更新数据，让不同平台按同一套口径查询和核算。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举个简单例子，同样表示客户编号，不同平台可能用不同字段名。我们先明确这些字段含义，再映射到统一的客户编号字段。更进一步，还要把客户与订单、订单与商品、活动和履约记录关联起来，并保留每次核算的依据和结果。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所以我们用四层结构。RAW 原始层登记数据来源和批次；STANDARD 标准层把不同平台转成统一口径；CORE 业务事实层组织客户、商品、订单、履约、活动对象；RESULT 结果层保存理论优惠、实际优惠、差异和费用汇总。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这样业务看到一个结果，可以再查：对应哪笔订单、依据什么规则、由哪次计算产生。目前快马和舟谱已经进入同一套 CORE 和 RESULT，验证了这套结构能承载不同平台。完整自动处理流程还要继续完善，尤其是 STANDARD 层，目前主要完成了字段映射，标准化记录和质量检查还要补。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本页展示当前费用运营台的真实数据界面。左侧业务数据页可按订单、订单明细、活动等标准化对象查询已入库数据，支持经销商筛选、详情下钻与导出。右侧活动中心集中展示满减、满赠、返券等活动的执行状态、权益结果与待确认事项。金额权益与赠品权益分别展示，核算结果来自已核验快照，不在前端重新计算。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"/>
        <p:cNvGrpSpPr/>
        <p:nvPr/>
      </p:nvGrpSpPr>
      <p:grpSpPr/>
      <p:sp>
        <p:nvSpPr>
          <p:cNvPr id="12" name="Shape 30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"/>
        <p:cNvGrpSpPr/>
        <p:nvPr/>
      </p:nvGrpSpPr>
      <p:grpSpPr/>
      <p:sp>
        <p:nvSpPr>
          <p:cNvPr id="18" name="Shape 54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"/>
        <p:cNvGrpSpPr/>
        <p:nvPr/>
      </p:nvGrpSpPr>
      <p:grpSpPr/>
      <p:sp>
        <p:nvSpPr>
          <p:cNvPr id="24" name="Shape 59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"/>
        <p:cNvGrpSpPr/>
        <p:nvPr/>
      </p:nvGrpSpPr>
      <p:grpSpPr/>
      <p:sp>
        <p:nvSpPr>
          <p:cNvPr id="30" name="Shape 9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"/>
        <p:cNvGrpSpPr/>
        <p:nvPr/>
      </p:nvGrpSpPr>
      <p:grpSpPr/>
      <p:sp>
        <p:nvSpPr>
          <p:cNvPr id="37" name="Shape 35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"/>
        <p:cNvGrpSpPr/>
        <p:nvPr/>
      </p:nvGrpSpPr>
      <p:grpSpPr/>
      <p:sp>
        <p:nvSpPr>
          <p:cNvPr id="46" name="Shape 20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"/>
        <p:cNvGrpSpPr/>
        <p:nvPr/>
      </p:nvGrpSpPr>
      <p:grpSpPr/>
      <p:sp>
        <p:nvSpPr>
          <p:cNvPr id="51" name="Shape 6"/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1" name=""/>
        <p:cNvGrpSpPr/>
        <p:nvPr/>
      </p:nvGrpSpPr>
      <p:grpSpPr/>
      <p:sp>
        <p:nvSpPr>
          <p:cNvPr id="55" name="Shape 43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1" name=""/>
        <p:cNvGrpSpPr/>
        <p:nvPr/>
      </p:nvGrpSpPr>
      <p:grpSpPr/>
      <p:sp>
        <p:nvSpPr>
          <p:cNvPr id="62" name="Shape 24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1" name=""/>
        <p:cNvGrpSpPr/>
        <p:nvPr/>
      </p:nvGrpSpPr>
      <p:grpSpPr/>
      <p:sp>
        <p:nvSpPr>
          <p:cNvPr id="69" name="Shape 49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"/>
        <p:cNvGrpSpPr/>
        <p:nvPr/>
      </p:nvGrpSpPr>
      <p:grpSpPr/>
      <p:sp>
        <p:nvSpPr>
          <p:cNvPr id="75" name="Shape 15"/>
          <p:cNvSpPr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hap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/>
        </p:txBody>
      </p:sp>
      <p:sp>
        <p:nvSpPr>
          <p:cNvPr id="8" name="Shape 3"/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/>
        </p:txBody>
      </p:sp>
      <p:sp>
        <p:nvSpPr>
          <p:cNvPr id="9" name="Shape 4"/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/>
        </p:txBody>
      </p:sp>
      <p:sp>
        <p:nvSpPr>
          <p:cNvPr id="10" name="Shape 5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buNone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Picture 2"/>
          <p:cNvPicPr>
            <a:picLocks noChangeAspect="1"/>
          </p:cNvPicPr>
          <p:nvPr/>
        </p:nvPicPr>
        <p:blipFill>
          <a:blip r:embed="rId1"/>
          <a:srcRect b="4000"/>
          <a:stretch>
            <a:fillRect/>
          </a:stretch>
        </p:blipFill>
        <p:spPr>
          <a:xfrm>
            <a:off x="6223000" y="1905000"/>
            <a:ext cx="5080000" cy="3048000"/>
          </a:xfrm>
          <a:prstGeom prst="roundRect">
            <a:avLst>
              <a:gd name="adj" fmla="val 4166"/>
            </a:avLst>
          </a:prstGeom>
          <a:ln w="12700" cap="flat" cmpd="sng">
            <a:solidFill>
              <a:srgbClr val="D9E2EC">
                <a:alpha val="100000"/>
              </a:srgbClr>
            </a:solidFill>
            <a:prstDash val="solid"/>
            <a:round/>
          </a:ln>
        </p:spPr>
      </p:pic>
      <p:sp>
        <p:nvSpPr>
          <p:cNvPr id="3" name="AutoShape 3"/>
          <p:cNvSpPr>
            <a:spLocks noGrp="1"/>
          </p:cNvSpPr>
          <p:nvPr/>
        </p:nvSpPr>
        <p:spPr>
          <a:xfrm>
            <a:off x="812800" y="2159000"/>
            <a:ext cx="50800" cy="1524000"/>
          </a:xfrm>
          <a:prstGeom prst="roundRect">
            <a:avLst>
              <a:gd name="adj" fmla="val 0"/>
            </a:avLst>
          </a:prstGeom>
          <a:solidFill>
            <a:srgbClr val="E87A2E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4" name="AutoShape 4"/>
          <p:cNvSpPr>
            <a:spLocks noGrp="1"/>
          </p:cNvSpPr>
          <p:nvPr/>
        </p:nvSpPr>
        <p:spPr>
          <a:xfrm>
            <a:off x="1066800" y="2133600"/>
            <a:ext cx="3810000" cy="304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1" i="0" u="none" strike="noStrike" spc="200">
                <a:solidFill>
                  <a:srgbClr val="155E9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EC101 数据底座与费用平台</a:t>
            </a:r>
            <a:endParaRPr sz="1100"/>
          </a:p>
        </p:txBody>
      </p:sp>
      <p:sp>
        <p:nvSpPr>
          <p:cNvPr id="5" name="AutoShape 5"/>
          <p:cNvSpPr>
            <a:spLocks noGrp="1"/>
          </p:cNvSpPr>
          <p:nvPr/>
        </p:nvSpPr>
        <p:spPr>
          <a:xfrm>
            <a:off x="1066800" y="2540000"/>
            <a:ext cx="5334000" cy="762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3800" b="1" i="0" u="none" strike="noStrike">
                <a:solidFill>
                  <a:srgbClr val="0B2D5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项目进度汇报</a:t>
            </a:r>
            <a:endParaRPr sz="1100"/>
          </a:p>
        </p:txBody>
      </p:sp>
      <p:sp>
        <p:nvSpPr>
          <p:cNvPr id="6" name="AutoShape 6"/>
          <p:cNvSpPr>
            <a:spLocks noGrp="1"/>
          </p:cNvSpPr>
          <p:nvPr/>
        </p:nvSpPr>
        <p:spPr>
          <a:xfrm>
            <a:off x="1066800" y="3403600"/>
            <a:ext cx="53340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400" b="0" i="0" u="none" strike="noStrike">
                <a:solidFill>
                  <a:srgbClr val="5D6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从闭环验证、四层数据库到费用运营台</a:t>
            </a:r>
            <a:endParaRPr sz="1100"/>
          </a:p>
        </p:txBody>
      </p:sp>
      <p:sp>
        <p:nvSpPr>
          <p:cNvPr id="7" name="AutoShape 7"/>
          <p:cNvSpPr>
            <a:spLocks noGrp="1"/>
          </p:cNvSpPr>
          <p:nvPr/>
        </p:nvSpPr>
        <p:spPr>
          <a:xfrm>
            <a:off x="6223000" y="5054600"/>
            <a:ext cx="50800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000" b="0" i="0" u="none" strike="noStrike" spc="100">
                <a:solidFill>
                  <a:srgbClr val="155E9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费用运营平台 · 真实数据演示</a:t>
            </a:r>
            <a:endParaRPr sz="1100"/>
          </a:p>
        </p:txBody>
      </p:sp>
      <p:sp>
        <p:nvSpPr>
          <p:cNvPr id="8" name="AutoShape 8"/>
          <p:cNvSpPr>
            <a:spLocks noGrp="1"/>
          </p:cNvSpPr>
          <p:nvPr/>
        </p:nvSpPr>
        <p:spPr>
          <a:xfrm>
            <a:off x="1066800" y="4191000"/>
            <a:ext cx="5334000" cy="1397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58000"/>
              </a:lnSpc>
              <a:buNone/>
            </a:pPr>
            <a:r>
              <a:rPr sz="1150" b="0" i="0" u="none" strike="noStrike">
                <a:solidFill>
                  <a:srgbClr val="2E384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汇报日期　2026-09-28</a:t>
            </a:r>
            <a:endParaRPr sz="1100"/>
          </a:p>
          <a:p>
            <a:pPr marL="0" indent="0" algn="l">
              <a:lnSpc>
                <a:spcPct val="158000"/>
              </a:lnSpc>
              <a:buNone/>
            </a:pPr>
            <a:r>
              <a:rPr sz="1150" b="0" i="0" u="none" strike="noStrike">
                <a:solidFill>
                  <a:srgbClr val="2E384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汇报范围　验证器 · MVP 数据库 · 费用运营台</a:t>
            </a:r>
            <a:endParaRPr sz="1150" b="0" i="0" u="none" strike="noStrike">
              <a:solidFill>
                <a:srgbClr val="2E384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58000"/>
              </a:lnSpc>
              <a:buNone/>
            </a:pPr>
            <a:r>
              <a:rPr sz="1150" b="0" i="0" u="none" strike="noStrike">
                <a:solidFill>
                  <a:srgbClr val="2E384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汇报</a:t>
            </a:r>
            <a:r>
              <a:rPr sz="1150" b="0" i="0" u="none" strike="noStrike">
                <a:solidFill>
                  <a:srgbClr val="2E384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人</a:t>
            </a:r>
            <a:r>
              <a:rPr sz="1150" b="0" i="0" u="none" strike="noStrike">
                <a:solidFill>
                  <a:srgbClr val="2E384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    </a:t>
            </a:r>
            <a:r>
              <a:rPr sz="1150" b="0" i="0" u="none" strike="noStrike">
                <a:solidFill>
                  <a:srgbClr val="2E384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詹小</a:t>
            </a:r>
            <a:r>
              <a:rPr sz="1150" b="0" i="0" u="none" strike="noStrike">
                <a:solidFill>
                  <a:srgbClr val="2E384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凡</a:t>
            </a:r>
            <a:endParaRPr sz="1150" b="0" i="0" u="none" strike="noStrike">
              <a:solidFill>
                <a:srgbClr val="2E384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AutoShape 9"/>
          <p:cNvSpPr>
            <a:spLocks noGrp="1"/>
          </p:cNvSpPr>
          <p:nvPr/>
        </p:nvSpPr>
        <p:spPr>
          <a:xfrm>
            <a:off x="812800" y="6223000"/>
            <a:ext cx="10566400" cy="12700"/>
          </a:xfrm>
          <a:prstGeom prst="roundRect">
            <a:avLst>
              <a:gd name="adj" fmla="val 0"/>
            </a:avLst>
          </a:prstGeom>
          <a:solidFill>
            <a:srgbClr val="D9E2EC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AutoShape 5"/>
          <p:cNvSpPr>
            <a:spLocks noGrp="1"/>
          </p:cNvSpPr>
          <p:nvPr/>
        </p:nvSpPr>
        <p:spPr>
          <a:xfrm>
            <a:off x="514350" y="1152525"/>
            <a:ext cx="11163300" cy="19050"/>
          </a:xfrm>
          <a:prstGeom prst="roundRect">
            <a:avLst>
              <a:gd name="adj" fmla="val 0"/>
            </a:avLst>
          </a:prstGeom>
          <a:solidFill>
            <a:srgbClr val="D9E2EC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6" name="AutoShape 6"/>
          <p:cNvSpPr>
            <a:spLocks noGrp="1"/>
          </p:cNvSpPr>
          <p:nvPr/>
        </p:nvSpPr>
        <p:spPr>
          <a:xfrm>
            <a:off x="514350" y="1524000"/>
            <a:ext cx="3556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7" name="AutoShape 7"/>
          <p:cNvSpPr>
            <a:spLocks noGrp="1"/>
          </p:cNvSpPr>
          <p:nvPr/>
        </p:nvSpPr>
        <p:spPr>
          <a:xfrm>
            <a:off x="514350" y="1524000"/>
            <a:ext cx="3556000" cy="76200"/>
          </a:xfrm>
          <a:prstGeom prst="roundRect">
            <a:avLst>
              <a:gd name="adj" fmla="val 0"/>
            </a:avLst>
          </a:prstGeom>
          <a:solidFill>
            <a:srgbClr val="155E9A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8" name="AutoShape 8"/>
          <p:cNvSpPr>
            <a:spLocks noGrp="1"/>
          </p:cNvSpPr>
          <p:nvPr/>
        </p:nvSpPr>
        <p:spPr>
          <a:xfrm>
            <a:off x="736600" y="1841500"/>
            <a:ext cx="762000" cy="304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1" i="0" u="none" strike="noStrike">
                <a:solidFill>
                  <a:srgbClr val="155E9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阶段一</a:t>
            </a:r>
            <a:endParaRPr sz="1100"/>
          </a:p>
        </p:txBody>
      </p:sp>
      <p:sp>
        <p:nvSpPr>
          <p:cNvPr id="9" name="AutoShape 9"/>
          <p:cNvSpPr>
            <a:spLocks noGrp="1"/>
          </p:cNvSpPr>
          <p:nvPr/>
        </p:nvSpPr>
        <p:spPr>
          <a:xfrm>
            <a:off x="736600" y="2222500"/>
            <a:ext cx="31496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0B2D5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促销闭环验证</a:t>
            </a:r>
            <a:endParaRPr sz="1100"/>
          </a:p>
        </p:txBody>
      </p:sp>
      <p:sp>
        <p:nvSpPr>
          <p:cNvPr id="11" name="AutoShape 11"/>
          <p:cNvSpPr>
            <a:spLocks noGrp="1"/>
          </p:cNvSpPr>
          <p:nvPr/>
        </p:nvSpPr>
        <p:spPr>
          <a:xfrm>
            <a:off x="736600" y="3048000"/>
            <a:ext cx="3149600" cy="762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2E384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经销商提供的数据，能不能支撑我们核对活动执行情况</a:t>
            </a:r>
            <a:endParaRPr sz="1100"/>
          </a:p>
        </p:txBody>
      </p:sp>
      <p:sp>
        <p:nvSpPr>
          <p:cNvPr id="12" name="AutoShape 12"/>
          <p:cNvSpPr>
            <a:spLocks noGrp="1"/>
          </p:cNvSpPr>
          <p:nvPr/>
        </p:nvSpPr>
        <p:spPr>
          <a:xfrm>
            <a:off x="736600" y="4064000"/>
            <a:ext cx="3149600" cy="12700"/>
          </a:xfrm>
          <a:prstGeom prst="roundRect">
            <a:avLst>
              <a:gd name="adj" fmla="val 0"/>
            </a:avLst>
          </a:prstGeom>
          <a:solidFill>
            <a:srgbClr val="D9E2EC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13" name="AutoShape 13"/>
          <p:cNvSpPr>
            <a:spLocks noGrp="1"/>
          </p:cNvSpPr>
          <p:nvPr/>
        </p:nvSpPr>
        <p:spPr>
          <a:xfrm>
            <a:off x="736600" y="4254500"/>
            <a:ext cx="31496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900" b="0" i="0" u="none" strike="noStrike" spc="100">
                <a:solidFill>
                  <a:srgbClr val="5D6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当前状态</a:t>
            </a:r>
            <a:endParaRPr sz="1100"/>
          </a:p>
        </p:txBody>
      </p:sp>
      <p:sp>
        <p:nvSpPr>
          <p:cNvPr id="14" name="AutoShape 14"/>
          <p:cNvSpPr>
            <a:spLocks noGrp="1"/>
          </p:cNvSpPr>
          <p:nvPr/>
        </p:nvSpPr>
        <p:spPr>
          <a:xfrm>
            <a:off x="736600" y="4572000"/>
            <a:ext cx="3149600" cy="1143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1050" b="0" i="0" u="none" strike="noStrike">
                <a:solidFill>
                  <a:srgbClr val="2E384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原计划覆盖 6 家先锋经销商，目前 3 家已</a:t>
            </a:r>
            <a:r>
              <a:rPr sz="1050" b="0" i="0" u="none" strike="noStrike">
                <a:solidFill>
                  <a:srgbClr val="2E384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完成费用闭环验证</a:t>
            </a:r>
            <a:r>
              <a:rPr sz="1050" b="0" i="0" u="none" strike="noStrike">
                <a:solidFill>
                  <a:srgbClr val="2E384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，其余 3 家待补数据；</a:t>
            </a:r>
            <a:endParaRPr sz="1100"/>
          </a:p>
        </p:txBody>
      </p:sp>
      <p:sp>
        <p:nvSpPr>
          <p:cNvPr id="15" name="AutoShape 15"/>
          <p:cNvSpPr>
            <a:spLocks noGrp="1"/>
          </p:cNvSpPr>
          <p:nvPr/>
        </p:nvSpPr>
        <p:spPr>
          <a:xfrm>
            <a:off x="4318000" y="1524000"/>
            <a:ext cx="3556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16" name="AutoShape 16"/>
          <p:cNvSpPr>
            <a:spLocks noGrp="1"/>
          </p:cNvSpPr>
          <p:nvPr/>
        </p:nvSpPr>
        <p:spPr>
          <a:xfrm>
            <a:off x="4318000" y="1524000"/>
            <a:ext cx="3556000" cy="76200"/>
          </a:xfrm>
          <a:prstGeom prst="roundRect">
            <a:avLst>
              <a:gd name="adj" fmla="val 0"/>
            </a:avLst>
          </a:prstGeom>
          <a:solidFill>
            <a:srgbClr val="155E9A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17" name="AutoShape 17"/>
          <p:cNvSpPr>
            <a:spLocks noGrp="1"/>
          </p:cNvSpPr>
          <p:nvPr/>
        </p:nvSpPr>
        <p:spPr>
          <a:xfrm>
            <a:off x="4546600" y="1841500"/>
            <a:ext cx="762000" cy="304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1" i="0" u="none" strike="noStrike">
                <a:solidFill>
                  <a:srgbClr val="155E9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阶段二</a:t>
            </a:r>
            <a:endParaRPr sz="1100"/>
          </a:p>
        </p:txBody>
      </p:sp>
      <p:sp>
        <p:nvSpPr>
          <p:cNvPr id="18" name="AutoShape 18"/>
          <p:cNvSpPr>
            <a:spLocks noGrp="1"/>
          </p:cNvSpPr>
          <p:nvPr/>
        </p:nvSpPr>
        <p:spPr>
          <a:xfrm>
            <a:off x="4546600" y="2222500"/>
            <a:ext cx="31496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0B2D5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数据库建设</a:t>
            </a:r>
            <a:endParaRPr sz="1100"/>
          </a:p>
        </p:txBody>
      </p:sp>
      <p:sp>
        <p:nvSpPr>
          <p:cNvPr id="20" name="AutoShape 20"/>
          <p:cNvSpPr>
            <a:spLocks noGrp="1"/>
          </p:cNvSpPr>
          <p:nvPr/>
        </p:nvSpPr>
        <p:spPr>
          <a:xfrm>
            <a:off x="4546600" y="3048000"/>
            <a:ext cx="3149600" cy="762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2E384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不同平台的数据，怎样按统一口径保存和关联起来</a:t>
            </a:r>
            <a:endParaRPr sz="1100"/>
          </a:p>
        </p:txBody>
      </p:sp>
      <p:sp>
        <p:nvSpPr>
          <p:cNvPr id="21" name="AutoShape 21"/>
          <p:cNvSpPr>
            <a:spLocks noGrp="1"/>
          </p:cNvSpPr>
          <p:nvPr/>
        </p:nvSpPr>
        <p:spPr>
          <a:xfrm>
            <a:off x="4546600" y="4064000"/>
            <a:ext cx="3149600" cy="12700"/>
          </a:xfrm>
          <a:prstGeom prst="roundRect">
            <a:avLst>
              <a:gd name="adj" fmla="val 0"/>
            </a:avLst>
          </a:prstGeom>
          <a:solidFill>
            <a:srgbClr val="D9E2EC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22" name="AutoShape 22"/>
          <p:cNvSpPr>
            <a:spLocks noGrp="1"/>
          </p:cNvSpPr>
          <p:nvPr/>
        </p:nvSpPr>
        <p:spPr>
          <a:xfrm>
            <a:off x="4546600" y="4254500"/>
            <a:ext cx="31496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900" b="0" i="0" u="none" strike="noStrike" spc="100">
                <a:solidFill>
                  <a:srgbClr val="5D6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当前状态</a:t>
            </a:r>
            <a:endParaRPr sz="1100"/>
          </a:p>
        </p:txBody>
      </p:sp>
      <p:sp>
        <p:nvSpPr>
          <p:cNvPr id="23" name="AutoShape 23"/>
          <p:cNvSpPr>
            <a:spLocks noGrp="1"/>
          </p:cNvSpPr>
          <p:nvPr/>
        </p:nvSpPr>
        <p:spPr>
          <a:xfrm>
            <a:off x="4546600" y="4572000"/>
            <a:ext cx="3149600" cy="1143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1050" b="0" i="0" u="none" strike="noStrike">
                <a:solidFill>
                  <a:srgbClr val="2E384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快马和舟谱已进入同一 CORE / RESULT 表结构；</a:t>
            </a:r>
            <a:endParaRPr sz="1100"/>
          </a:p>
        </p:txBody>
      </p:sp>
      <p:sp>
        <p:nvSpPr>
          <p:cNvPr id="24" name="AutoShape 24"/>
          <p:cNvSpPr>
            <a:spLocks noGrp="1"/>
          </p:cNvSpPr>
          <p:nvPr/>
        </p:nvSpPr>
        <p:spPr>
          <a:xfrm>
            <a:off x="8128000" y="1524000"/>
            <a:ext cx="3556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>
            <a:solidFill>
              <a:srgbClr val="E87A2E">
                <a:alpha val="10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25" name="AutoShape 25"/>
          <p:cNvSpPr>
            <a:spLocks noGrp="1"/>
          </p:cNvSpPr>
          <p:nvPr/>
        </p:nvSpPr>
        <p:spPr>
          <a:xfrm>
            <a:off x="8128000" y="1524000"/>
            <a:ext cx="3556000" cy="76200"/>
          </a:xfrm>
          <a:prstGeom prst="roundRect">
            <a:avLst>
              <a:gd name="adj" fmla="val 0"/>
            </a:avLst>
          </a:prstGeom>
          <a:solidFill>
            <a:srgbClr val="E87A2E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26" name="AutoShape 26"/>
          <p:cNvSpPr>
            <a:spLocks noGrp="1"/>
          </p:cNvSpPr>
          <p:nvPr/>
        </p:nvSpPr>
        <p:spPr>
          <a:xfrm>
            <a:off x="8356600" y="1841500"/>
            <a:ext cx="762000" cy="304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1" i="0" u="none" strike="noStrike">
                <a:solidFill>
                  <a:srgbClr val="E87A2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阶段三</a:t>
            </a:r>
            <a:endParaRPr sz="1100"/>
          </a:p>
        </p:txBody>
      </p:sp>
      <p:sp>
        <p:nvSpPr>
          <p:cNvPr id="27" name="AutoShape 27"/>
          <p:cNvSpPr>
            <a:spLocks noGrp="1"/>
          </p:cNvSpPr>
          <p:nvPr/>
        </p:nvSpPr>
        <p:spPr>
          <a:xfrm>
            <a:off x="8356600" y="2222500"/>
            <a:ext cx="31496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0B2D5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运营平台</a:t>
            </a:r>
            <a:endParaRPr sz="1100"/>
          </a:p>
        </p:txBody>
      </p:sp>
      <p:sp>
        <p:nvSpPr>
          <p:cNvPr id="29" name="AutoShape 29"/>
          <p:cNvSpPr>
            <a:spLocks noGrp="1"/>
          </p:cNvSpPr>
          <p:nvPr/>
        </p:nvSpPr>
        <p:spPr>
          <a:xfrm>
            <a:off x="8356600" y="3048000"/>
            <a:ext cx="3149600" cy="762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2E384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怎样让方便地查看数据、核对结果和跟进异常</a:t>
            </a:r>
            <a:endParaRPr sz="1100"/>
          </a:p>
        </p:txBody>
      </p:sp>
      <p:sp>
        <p:nvSpPr>
          <p:cNvPr id="30" name="AutoShape 30"/>
          <p:cNvSpPr>
            <a:spLocks noGrp="1"/>
          </p:cNvSpPr>
          <p:nvPr/>
        </p:nvSpPr>
        <p:spPr>
          <a:xfrm>
            <a:off x="8356600" y="4064000"/>
            <a:ext cx="3149600" cy="12700"/>
          </a:xfrm>
          <a:prstGeom prst="roundRect">
            <a:avLst>
              <a:gd name="adj" fmla="val 0"/>
            </a:avLst>
          </a:prstGeom>
          <a:solidFill>
            <a:srgbClr val="D9E2EC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31" name="AutoShape 31"/>
          <p:cNvSpPr>
            <a:spLocks noGrp="1"/>
          </p:cNvSpPr>
          <p:nvPr/>
        </p:nvSpPr>
        <p:spPr>
          <a:xfrm>
            <a:off x="8356600" y="4254500"/>
            <a:ext cx="31496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900" b="0" i="0" u="none" strike="noStrike" spc="100">
                <a:solidFill>
                  <a:srgbClr val="5D6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当前状态</a:t>
            </a:r>
            <a:endParaRPr sz="1100"/>
          </a:p>
        </p:txBody>
      </p:sp>
      <p:sp>
        <p:nvSpPr>
          <p:cNvPr id="32" name="AutoShape 32"/>
          <p:cNvSpPr>
            <a:spLocks noGrp="1"/>
          </p:cNvSpPr>
          <p:nvPr/>
        </p:nvSpPr>
        <p:spPr>
          <a:xfrm>
            <a:off x="8356600" y="4572000"/>
            <a:ext cx="3149600" cy="1143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1050" b="0" i="0" u="none" strike="noStrike">
                <a:solidFill>
                  <a:srgbClr val="2E384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本地可现场演示，业务数据页读取真实入库数据；</a:t>
            </a:r>
            <a:endParaRPr sz="1100"/>
          </a:p>
        </p:txBody>
      </p:sp>
      <p:sp>
        <p:nvSpPr>
          <p:cNvPr id="33" name="AutoShape 33"/>
          <p:cNvSpPr>
            <a:spLocks noGrp="1"/>
          </p:cNvSpPr>
          <p:nvPr/>
        </p:nvSpPr>
        <p:spPr>
          <a:xfrm>
            <a:off x="514350" y="6534150"/>
            <a:ext cx="7620000" cy="228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800" b="0" i="0" u="none" strike="noStrike">
                <a:solidFill>
                  <a:srgbClr val="7B87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来源：EC101 IT 工作进展说明 · 2026-09-27</a:t>
            </a:r>
            <a:endParaRPr sz="1100"/>
          </a:p>
        </p:txBody>
      </p:sp>
      <p:sp>
        <p:nvSpPr>
          <p:cNvPr id="34" name="AutoShape 34"/>
          <p:cNvSpPr>
            <a:spLocks noGrp="1"/>
          </p:cNvSpPr>
          <p:nvPr/>
        </p:nvSpPr>
        <p:spPr>
          <a:xfrm>
            <a:off x="10858500" y="6534150"/>
            <a:ext cx="819150" cy="228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sz="800" b="1" i="0" u="none" strike="noStrike">
                <a:solidFill>
                  <a:srgbClr val="0B2D5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EC101</a:t>
            </a:r>
            <a:endParaRPr sz="1100"/>
          </a:p>
        </p:txBody>
      </p:sp>
      <p:sp>
        <p:nvSpPr>
          <p:cNvPr id="3" name="AutoShape 2"/>
          <p:cNvSpPr>
            <a:spLocks noGrp="1"/>
          </p:cNvSpPr>
          <p:nvPr/>
        </p:nvSpPr>
        <p:spPr>
          <a:xfrm>
            <a:off x="514350" y="342900"/>
            <a:ext cx="10414000" cy="457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2200" b="1" i="0" u="none" strike="noStrike">
                <a:solidFill>
                  <a:srgbClr val="0B2D5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已用部分经销商真实数据，初步串起验证、入库到展示的流程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514350" y="342900"/>
            <a:ext cx="10414000" cy="457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2200" b="1" i="0" u="none" strike="noStrike">
                <a:solidFill>
                  <a:srgbClr val="0B2D5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阶段一：按订单核对理论优惠与平台实际优惠是否一致</a:t>
            </a:r>
            <a:endParaRPr sz="1100"/>
          </a:p>
        </p:txBody>
      </p:sp>
      <p:sp>
        <p:nvSpPr>
          <p:cNvPr id="5" name="AutoShape 5"/>
          <p:cNvSpPr>
            <a:spLocks noGrp="1"/>
          </p:cNvSpPr>
          <p:nvPr/>
        </p:nvSpPr>
        <p:spPr>
          <a:xfrm>
            <a:off x="514350" y="1152525"/>
            <a:ext cx="11163300" cy="19050"/>
          </a:xfrm>
          <a:prstGeom prst="roundRect">
            <a:avLst>
              <a:gd name="adj" fmla="val 0"/>
            </a:avLst>
          </a:prstGeom>
          <a:solidFill>
            <a:srgbClr val="D9E2EC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6" name="AutoShape 6"/>
          <p:cNvSpPr>
            <a:spLocks noGrp="1"/>
          </p:cNvSpPr>
          <p:nvPr/>
        </p:nvSpPr>
        <p:spPr>
          <a:xfrm>
            <a:off x="514350" y="1460500"/>
            <a:ext cx="50800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900" b="0" i="0" u="none" strike="noStrike" spc="150">
                <a:solidFill>
                  <a:srgbClr val="5D6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第一步 · 收集并关联这些资料</a:t>
            </a:r>
            <a:endParaRPr sz="1100"/>
          </a:p>
        </p:txBody>
      </p:sp>
      <p:sp>
        <p:nvSpPr>
          <p:cNvPr id="7" name="AutoShape 7"/>
          <p:cNvSpPr>
            <a:spLocks noGrp="1"/>
          </p:cNvSpPr>
          <p:nvPr/>
        </p:nvSpPr>
        <p:spPr>
          <a:xfrm>
            <a:off x="514350" y="1841500"/>
            <a:ext cx="4826000" cy="381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8" name="AutoShape 8"/>
          <p:cNvSpPr>
            <a:spLocks noGrp="1"/>
          </p:cNvSpPr>
          <p:nvPr/>
        </p:nvSpPr>
        <p:spPr>
          <a:xfrm>
            <a:off x="736600" y="2095500"/>
            <a:ext cx="4318000" cy="304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1" i="0" u="none" strike="noStrike">
                <a:solidFill>
                  <a:srgbClr val="0B2D5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经销商平台导出</a:t>
            </a:r>
            <a:endParaRPr sz="1100"/>
          </a:p>
        </p:txBody>
      </p:sp>
      <p:sp>
        <p:nvSpPr>
          <p:cNvPr id="9" name="AutoShape 9"/>
          <p:cNvSpPr>
            <a:spLocks noGrp="1"/>
          </p:cNvSpPr>
          <p:nvPr/>
        </p:nvSpPr>
        <p:spPr>
          <a:xfrm>
            <a:off x="736600" y="2476500"/>
            <a:ext cx="1333500" cy="355600"/>
          </a:xfrm>
          <a:prstGeom prst="roundRect">
            <a:avLst>
              <a:gd name="adj" fmla="val 0"/>
            </a:avLst>
          </a:prstGeom>
          <a:solidFill>
            <a:srgbClr val="DDF5EF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10" name="AutoShape 10"/>
          <p:cNvSpPr>
            <a:spLocks noGrp="1"/>
          </p:cNvSpPr>
          <p:nvPr/>
        </p:nvSpPr>
        <p:spPr>
          <a:xfrm>
            <a:off x="736600" y="2476500"/>
            <a:ext cx="1333500" cy="355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000" b="0" i="0" u="none" strike="noStrike">
                <a:solidFill>
                  <a:srgbClr val="0B2D5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客户资料</a:t>
            </a:r>
            <a:endParaRPr sz="1100"/>
          </a:p>
        </p:txBody>
      </p:sp>
      <p:sp>
        <p:nvSpPr>
          <p:cNvPr id="11" name="AutoShape 11"/>
          <p:cNvSpPr>
            <a:spLocks noGrp="1"/>
          </p:cNvSpPr>
          <p:nvPr/>
        </p:nvSpPr>
        <p:spPr>
          <a:xfrm>
            <a:off x="2159000" y="2476500"/>
            <a:ext cx="1333500" cy="355600"/>
          </a:xfrm>
          <a:prstGeom prst="roundRect">
            <a:avLst>
              <a:gd name="adj" fmla="val 0"/>
            </a:avLst>
          </a:prstGeom>
          <a:solidFill>
            <a:srgbClr val="DDF5EF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12" name="AutoShape 12"/>
          <p:cNvSpPr>
            <a:spLocks noGrp="1"/>
          </p:cNvSpPr>
          <p:nvPr/>
        </p:nvSpPr>
        <p:spPr>
          <a:xfrm>
            <a:off x="2159000" y="2476500"/>
            <a:ext cx="1333500" cy="355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000" b="0" i="0" u="none" strike="noStrike">
                <a:solidFill>
                  <a:srgbClr val="0B2D5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商品资料</a:t>
            </a:r>
            <a:endParaRPr sz="1100"/>
          </a:p>
        </p:txBody>
      </p:sp>
      <p:sp>
        <p:nvSpPr>
          <p:cNvPr id="13" name="AutoShape 13"/>
          <p:cNvSpPr>
            <a:spLocks noGrp="1"/>
          </p:cNvSpPr>
          <p:nvPr/>
        </p:nvSpPr>
        <p:spPr>
          <a:xfrm>
            <a:off x="3581400" y="2476500"/>
            <a:ext cx="1524000" cy="355600"/>
          </a:xfrm>
          <a:prstGeom prst="roundRect">
            <a:avLst>
              <a:gd name="adj" fmla="val 0"/>
            </a:avLst>
          </a:prstGeom>
          <a:solidFill>
            <a:srgbClr val="DDF5EF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14" name="AutoShape 14"/>
          <p:cNvSpPr>
            <a:spLocks noGrp="1"/>
          </p:cNvSpPr>
          <p:nvPr/>
        </p:nvSpPr>
        <p:spPr>
          <a:xfrm>
            <a:off x="3581400" y="2476500"/>
            <a:ext cx="1524000" cy="355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000" b="0" i="0" u="none" strike="noStrike">
                <a:solidFill>
                  <a:srgbClr val="0B2D5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订单与活动明细</a:t>
            </a:r>
            <a:endParaRPr sz="1100"/>
          </a:p>
        </p:txBody>
      </p:sp>
      <p:sp>
        <p:nvSpPr>
          <p:cNvPr id="15" name="AutoShape 15"/>
          <p:cNvSpPr>
            <a:spLocks noGrp="1"/>
          </p:cNvSpPr>
          <p:nvPr/>
        </p:nvSpPr>
        <p:spPr>
          <a:xfrm>
            <a:off x="736600" y="2921000"/>
            <a:ext cx="4368800" cy="355600"/>
          </a:xfrm>
          <a:prstGeom prst="roundRect">
            <a:avLst>
              <a:gd name="adj" fmla="val 0"/>
            </a:avLst>
          </a:prstGeom>
          <a:solidFill>
            <a:srgbClr val="DDF5EF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16" name="AutoShape 16"/>
          <p:cNvSpPr>
            <a:spLocks noGrp="1"/>
          </p:cNvSpPr>
          <p:nvPr/>
        </p:nvSpPr>
        <p:spPr>
          <a:xfrm>
            <a:off x="736600" y="2921000"/>
            <a:ext cx="4368800" cy="355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000" b="0" i="0" u="none" strike="noStrike">
                <a:solidFill>
                  <a:srgbClr val="0B2D5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活动配置（满减 / 满赠 / 返券规则）</a:t>
            </a:r>
            <a:endParaRPr sz="1100"/>
          </a:p>
        </p:txBody>
      </p:sp>
      <p:sp>
        <p:nvSpPr>
          <p:cNvPr id="17" name="AutoShape 17"/>
          <p:cNvSpPr>
            <a:spLocks noGrp="1"/>
          </p:cNvSpPr>
          <p:nvPr/>
        </p:nvSpPr>
        <p:spPr>
          <a:xfrm>
            <a:off x="736600" y="3492500"/>
            <a:ext cx="4318000" cy="304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1" i="0" u="none" strike="noStrike">
                <a:solidFill>
                  <a:srgbClr val="0B2D5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必要时补充</a:t>
            </a:r>
            <a:endParaRPr sz="1100"/>
          </a:p>
        </p:txBody>
      </p:sp>
      <p:sp>
        <p:nvSpPr>
          <p:cNvPr id="18" name="AutoShape 18"/>
          <p:cNvSpPr>
            <a:spLocks noGrp="1"/>
          </p:cNvSpPr>
          <p:nvPr/>
        </p:nvSpPr>
        <p:spPr>
          <a:xfrm>
            <a:off x="736600" y="3873500"/>
            <a:ext cx="2032000" cy="355600"/>
          </a:xfrm>
          <a:prstGeom prst="roundRect">
            <a:avLst>
              <a:gd name="adj" fmla="val 0"/>
            </a:avLst>
          </a:prstGeom>
          <a:solidFill>
            <a:srgbClr val="F5F7FA">
              <a:alpha val="100000"/>
            </a:srgbClr>
          </a:solidFill>
          <a:ln w="12700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19" name="AutoShape 19"/>
          <p:cNvSpPr>
            <a:spLocks noGrp="1"/>
          </p:cNvSpPr>
          <p:nvPr/>
        </p:nvSpPr>
        <p:spPr>
          <a:xfrm>
            <a:off x="736600" y="3873500"/>
            <a:ext cx="2032000" cy="355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000" b="0" i="0" u="none" strike="noStrike">
                <a:solidFill>
                  <a:srgbClr val="2E384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业务员</a:t>
            </a:r>
            <a:r>
              <a:rPr sz="1000" b="0" i="0" u="none" strike="noStrike">
                <a:solidFill>
                  <a:srgbClr val="2E384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</a:t>
            </a:r>
            <a:endParaRPr sz="1100"/>
          </a:p>
        </p:txBody>
      </p:sp>
      <p:sp>
        <p:nvSpPr>
          <p:cNvPr id="20" name="AutoShape 20"/>
          <p:cNvSpPr>
            <a:spLocks noGrp="1"/>
          </p:cNvSpPr>
          <p:nvPr/>
        </p:nvSpPr>
        <p:spPr>
          <a:xfrm>
            <a:off x="2870200" y="3873500"/>
            <a:ext cx="2235200" cy="355600"/>
          </a:xfrm>
          <a:prstGeom prst="roundRect">
            <a:avLst>
              <a:gd name="adj" fmla="val 0"/>
            </a:avLst>
          </a:prstGeom>
          <a:solidFill>
            <a:srgbClr val="F5F7FA">
              <a:alpha val="100000"/>
            </a:srgbClr>
          </a:solidFill>
          <a:ln w="25400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21" name="AutoShape 21"/>
          <p:cNvSpPr>
            <a:spLocks noGrp="1"/>
          </p:cNvSpPr>
          <p:nvPr/>
        </p:nvSpPr>
        <p:spPr>
          <a:xfrm>
            <a:off x="2870200" y="3873500"/>
            <a:ext cx="2235200" cy="355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sz="1000" b="0" i="0" u="none" strike="noStrike">
                <a:solidFill>
                  <a:srgbClr val="2E384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履约数据</a:t>
            </a:r>
            <a:endParaRPr sz="1100"/>
          </a:p>
        </p:txBody>
      </p:sp>
      <p:sp>
        <p:nvSpPr>
          <p:cNvPr id="22" name="AutoShape 22"/>
          <p:cNvSpPr>
            <a:spLocks noGrp="1"/>
          </p:cNvSpPr>
          <p:nvPr/>
        </p:nvSpPr>
        <p:spPr>
          <a:xfrm>
            <a:off x="736600" y="4508500"/>
            <a:ext cx="4368800" cy="889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1050" b="0" i="0" u="none" strike="noStrike">
                <a:solidFill>
                  <a:srgbClr val="2E384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把这些资料按客户、订单、商品、活动互相关联，缺哪一环就补哪一环，不强行凑结论。</a:t>
            </a:r>
            <a:endParaRPr sz="1100"/>
          </a:p>
        </p:txBody>
      </p:sp>
      <p:sp>
        <p:nvSpPr>
          <p:cNvPr id="23" name="AutoShape 23"/>
          <p:cNvSpPr>
            <a:spLocks noGrp="1"/>
          </p:cNvSpPr>
          <p:nvPr/>
        </p:nvSpPr>
        <p:spPr>
          <a:xfrm>
            <a:off x="5715000" y="1460500"/>
            <a:ext cx="59690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900" b="0" i="0" u="none" strike="noStrike" spc="150">
                <a:solidFill>
                  <a:srgbClr val="5D6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第二步 · 用一笔订单理解"闭环核对"</a:t>
            </a:r>
            <a:endParaRPr sz="1100"/>
          </a:p>
        </p:txBody>
      </p:sp>
      <p:sp>
        <p:nvSpPr>
          <p:cNvPr id="24" name="AutoShape 24"/>
          <p:cNvSpPr>
            <a:spLocks noGrp="1"/>
          </p:cNvSpPr>
          <p:nvPr/>
        </p:nvSpPr>
        <p:spPr>
          <a:xfrm>
            <a:off x="5715000" y="1841500"/>
            <a:ext cx="5956300" cy="381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25" name="AutoShape 25"/>
          <p:cNvSpPr>
            <a:spLocks noGrp="1"/>
          </p:cNvSpPr>
          <p:nvPr/>
        </p:nvSpPr>
        <p:spPr>
          <a:xfrm>
            <a:off x="5943600" y="2095500"/>
            <a:ext cx="5588000" cy="3048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1" i="0" u="none" strike="noStrike">
                <a:solidFill>
                  <a:srgbClr val="0B2D5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示例规则：可口可乐指定商品满 300 元减 15 元</a:t>
            </a:r>
            <a:endParaRPr sz="1100"/>
          </a:p>
        </p:txBody>
      </p:sp>
      <p:sp>
        <p:nvSpPr>
          <p:cNvPr id="26" name="AutoShape 26"/>
          <p:cNvSpPr>
            <a:spLocks noGrp="1"/>
          </p:cNvSpPr>
          <p:nvPr/>
        </p:nvSpPr>
        <p:spPr>
          <a:xfrm>
            <a:off x="5943600" y="2540000"/>
            <a:ext cx="3810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1" i="0" u="none" strike="noStrike">
                <a:solidFill>
                  <a:srgbClr val="155E9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endParaRPr sz="1100"/>
          </a:p>
        </p:txBody>
      </p:sp>
      <p:sp>
        <p:nvSpPr>
          <p:cNvPr id="27" name="AutoShape 27"/>
          <p:cNvSpPr>
            <a:spLocks noGrp="1"/>
          </p:cNvSpPr>
          <p:nvPr/>
        </p:nvSpPr>
        <p:spPr>
          <a:xfrm>
            <a:off x="6286500" y="2540000"/>
            <a:ext cx="52705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E384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识别活动</a:t>
            </a:r>
            <a:r>
              <a:rPr sz="1050">
                <a:solidFill>
                  <a:srgbClr val="2E384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：</a:t>
            </a:r>
            <a:r>
              <a:rPr sz="1050" b="0" i="0" u="none" strike="noStrike">
                <a:solidFill>
                  <a:srgbClr val="2E384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这笔订单是否在活动期间内、是否参与了这个活动</a:t>
            </a:r>
            <a:endParaRPr sz="1100"/>
          </a:p>
        </p:txBody>
      </p:sp>
      <p:sp>
        <p:nvSpPr>
          <p:cNvPr id="28" name="AutoShape 28"/>
          <p:cNvSpPr>
            <a:spLocks noGrp="1"/>
          </p:cNvSpPr>
          <p:nvPr/>
        </p:nvSpPr>
        <p:spPr>
          <a:xfrm>
            <a:off x="5943600" y="2921000"/>
            <a:ext cx="3810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1" i="0" u="none" strike="noStrike">
                <a:solidFill>
                  <a:srgbClr val="155E9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endParaRPr sz="1100"/>
          </a:p>
        </p:txBody>
      </p:sp>
      <p:sp>
        <p:nvSpPr>
          <p:cNvPr id="29" name="AutoShape 29"/>
          <p:cNvSpPr>
            <a:spLocks noGrp="1"/>
          </p:cNvSpPr>
          <p:nvPr/>
        </p:nvSpPr>
        <p:spPr>
          <a:xfrm>
            <a:off x="6286500" y="2921000"/>
            <a:ext cx="52705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E384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关联活动配置</a:t>
            </a:r>
            <a:r>
              <a:rPr sz="1050">
                <a:solidFill>
                  <a:srgbClr val="2E384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：</a:t>
            </a:r>
            <a:r>
              <a:rPr sz="1050" b="0" i="0" u="none" strike="noStrike">
                <a:solidFill>
                  <a:srgbClr val="2E384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参与活动的商品金额是否达到 300 元门槛</a:t>
            </a:r>
            <a:endParaRPr sz="1100"/>
          </a:p>
        </p:txBody>
      </p:sp>
      <p:sp>
        <p:nvSpPr>
          <p:cNvPr id="30" name="AutoShape 30"/>
          <p:cNvSpPr>
            <a:spLocks noGrp="1"/>
          </p:cNvSpPr>
          <p:nvPr/>
        </p:nvSpPr>
        <p:spPr>
          <a:xfrm>
            <a:off x="5943600" y="3302000"/>
            <a:ext cx="3810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1" i="0" u="none" strike="noStrike">
                <a:solidFill>
                  <a:srgbClr val="155E9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</a:t>
            </a:r>
            <a:endParaRPr sz="1100"/>
          </a:p>
        </p:txBody>
      </p:sp>
      <p:sp>
        <p:nvSpPr>
          <p:cNvPr id="31" name="AutoShape 31"/>
          <p:cNvSpPr>
            <a:spLocks noGrp="1"/>
          </p:cNvSpPr>
          <p:nvPr/>
        </p:nvSpPr>
        <p:spPr>
          <a:xfrm>
            <a:off x="6286500" y="3302000"/>
            <a:ext cx="52705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E384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按规则计算理论优惠：</a:t>
            </a:r>
            <a:r>
              <a:rPr sz="1050" b="0" i="0" u="none" strike="noStrike">
                <a:solidFill>
                  <a:srgbClr val="2E384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按规则计算理论优惠：满 300 减 15，应减 15 元</a:t>
            </a:r>
            <a:endParaRPr sz="1100"/>
          </a:p>
        </p:txBody>
      </p:sp>
      <p:sp>
        <p:nvSpPr>
          <p:cNvPr id="32" name="AutoShape 32"/>
          <p:cNvSpPr>
            <a:spLocks noGrp="1"/>
          </p:cNvSpPr>
          <p:nvPr/>
        </p:nvSpPr>
        <p:spPr>
          <a:xfrm>
            <a:off x="5943600" y="3683000"/>
            <a:ext cx="3810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1" i="0" u="none" strike="noStrike">
                <a:solidFill>
                  <a:srgbClr val="155E9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</a:t>
            </a:r>
            <a:endParaRPr sz="1100"/>
          </a:p>
        </p:txBody>
      </p:sp>
      <p:sp>
        <p:nvSpPr>
          <p:cNvPr id="33" name="AutoShape 33"/>
          <p:cNvSpPr>
            <a:spLocks noGrp="1"/>
          </p:cNvSpPr>
          <p:nvPr/>
        </p:nvSpPr>
        <p:spPr>
          <a:xfrm>
            <a:off x="6286500" y="3683000"/>
            <a:ext cx="52705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1100">
                <a:solidFill>
                  <a:srgbClr val="2E384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对比</a:t>
            </a:r>
            <a:r>
              <a:rPr sz="1100">
                <a:solidFill>
                  <a:srgbClr val="2E384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平台实际优惠：与理论值逐单核对</a:t>
            </a:r>
            <a:endParaRPr sz="1100"/>
          </a:p>
          <a:p>
            <a:pPr marL="0" indent="0" algn="l">
              <a:lnSpc>
                <a:spcPct val="125000"/>
              </a:lnSpc>
              <a:buNone/>
            </a:pPr>
            <a:endParaRPr sz="1100"/>
          </a:p>
        </p:txBody>
      </p:sp>
      <p:sp>
        <p:nvSpPr>
          <p:cNvPr id="34" name="AutoShape 34"/>
          <p:cNvSpPr>
            <a:spLocks noGrp="1"/>
          </p:cNvSpPr>
          <p:nvPr/>
        </p:nvSpPr>
        <p:spPr>
          <a:xfrm>
            <a:off x="5943600" y="4127500"/>
            <a:ext cx="5511800" cy="12700"/>
          </a:xfrm>
          <a:prstGeom prst="roundRect">
            <a:avLst>
              <a:gd name="adj" fmla="val 0"/>
            </a:avLst>
          </a:prstGeom>
          <a:solidFill>
            <a:srgbClr val="D9E2EC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35" name="AutoShape 35"/>
          <p:cNvSpPr>
            <a:spLocks noGrp="1"/>
          </p:cNvSpPr>
          <p:nvPr/>
        </p:nvSpPr>
        <p:spPr>
          <a:xfrm>
            <a:off x="5943600" y="4318000"/>
            <a:ext cx="5511800" cy="1270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sz="1050" b="0" i="0" u="none" strike="noStrike">
                <a:solidFill>
                  <a:srgbClr val="2E384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两边一致 → 通过；有差异 → 继续查原因；</a:t>
            </a:r>
            <a:endParaRPr sz="1100"/>
          </a:p>
          <a:p>
            <a:pPr marL="0" indent="0" algn="l">
              <a:lnSpc>
                <a:spcPct val="133000"/>
              </a:lnSpc>
              <a:buNone/>
            </a:pPr>
            <a:r>
              <a:rPr sz="1050" b="0" i="0" u="none" strike="noStrike">
                <a:solidFill>
                  <a:srgbClr val="E87A2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缺活动配置、订单状态等关键信息 → 暂时不形成结论，先补数据。</a:t>
            </a:r>
            <a:endParaRPr sz="1050" b="0" i="0" u="none" strike="noStrike">
              <a:solidFill>
                <a:srgbClr val="E87A2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AutoShape 36"/>
          <p:cNvSpPr>
            <a:spLocks noGrp="1"/>
          </p:cNvSpPr>
          <p:nvPr/>
        </p:nvSpPr>
        <p:spPr>
          <a:xfrm>
            <a:off x="514350" y="6534150"/>
            <a:ext cx="7620000" cy="228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800" b="0" i="0" u="none" strike="noStrike">
                <a:solidFill>
                  <a:srgbClr val="7B87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来源：EC101 IT 工作进展说明 · 2026-09-27</a:t>
            </a:r>
            <a:endParaRPr sz="1100"/>
          </a:p>
        </p:txBody>
      </p:sp>
      <p:sp>
        <p:nvSpPr>
          <p:cNvPr id="37" name="AutoShape 37"/>
          <p:cNvSpPr>
            <a:spLocks noGrp="1"/>
          </p:cNvSpPr>
          <p:nvPr/>
        </p:nvSpPr>
        <p:spPr>
          <a:xfrm>
            <a:off x="10858500" y="6534150"/>
            <a:ext cx="819150" cy="228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sz="800" b="1" i="0" u="none" strike="noStrike">
                <a:solidFill>
                  <a:srgbClr val="0B2D5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EC101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514350" y="342900"/>
            <a:ext cx="10414000" cy="457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2200" b="1" i="0" u="none" strike="noStrike">
                <a:solidFill>
                  <a:srgbClr val="0B2D5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阶段二：已搭建四层目标结构，逐步实现结果可追溯</a:t>
            </a:r>
            <a:endParaRPr sz="1100"/>
          </a:p>
        </p:txBody>
      </p:sp>
      <p:sp>
        <p:nvSpPr>
          <p:cNvPr id="5" name="AutoShape 5"/>
          <p:cNvSpPr>
            <a:spLocks noGrp="1"/>
          </p:cNvSpPr>
          <p:nvPr/>
        </p:nvSpPr>
        <p:spPr>
          <a:xfrm>
            <a:off x="514350" y="1152525"/>
            <a:ext cx="11163300" cy="19050"/>
          </a:xfrm>
          <a:prstGeom prst="roundRect">
            <a:avLst>
              <a:gd name="adj" fmla="val 0"/>
            </a:avLst>
          </a:prstGeom>
          <a:solidFill>
            <a:srgbClr val="D9E2EC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7" name="AutoShape 7"/>
          <p:cNvSpPr>
            <a:spLocks noGrp="1"/>
          </p:cNvSpPr>
          <p:nvPr/>
        </p:nvSpPr>
        <p:spPr>
          <a:xfrm>
            <a:off x="514350" y="1841500"/>
            <a:ext cx="3810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8" name="AutoShape 8"/>
          <p:cNvSpPr>
            <a:spLocks noGrp="1"/>
          </p:cNvSpPr>
          <p:nvPr/>
        </p:nvSpPr>
        <p:spPr>
          <a:xfrm>
            <a:off x="736600" y="2032000"/>
            <a:ext cx="3429000" cy="889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1050" b="0" i="0" u="none" strike="noStrike">
                <a:solidFill>
                  <a:srgbClr val="2E384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随着经销商、活动和数据批次增加，需要持续保存和更新数据，让不同平台逐步进入统一查询和核算口径。</a:t>
            </a:r>
            <a:endParaRPr sz="1100"/>
          </a:p>
        </p:txBody>
      </p:sp>
      <p:sp>
        <p:nvSpPr>
          <p:cNvPr id="9" name="AutoShape 9"/>
          <p:cNvSpPr>
            <a:spLocks noGrp="1"/>
          </p:cNvSpPr>
          <p:nvPr/>
        </p:nvSpPr>
        <p:spPr>
          <a:xfrm>
            <a:off x="736600" y="3048000"/>
            <a:ext cx="3352800" cy="12700"/>
          </a:xfrm>
          <a:prstGeom prst="roundRect">
            <a:avLst>
              <a:gd name="adj" fmla="val 0"/>
            </a:avLst>
          </a:prstGeom>
          <a:solidFill>
            <a:srgbClr val="D9E2EC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10" name="AutoShape 10"/>
          <p:cNvSpPr>
            <a:spLocks noGrp="1"/>
          </p:cNvSpPr>
          <p:nvPr/>
        </p:nvSpPr>
        <p:spPr>
          <a:xfrm>
            <a:off x="736600" y="3238500"/>
            <a:ext cx="34290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1" i="0" u="none" strike="noStrike">
                <a:solidFill>
                  <a:srgbClr val="0B2D5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要做的不只是字段改名</a:t>
            </a:r>
            <a:endParaRPr sz="1100"/>
          </a:p>
        </p:txBody>
      </p:sp>
      <p:sp>
        <p:nvSpPr>
          <p:cNvPr id="11" name="AutoShape 11"/>
          <p:cNvSpPr>
            <a:spLocks noGrp="1"/>
          </p:cNvSpPr>
          <p:nvPr/>
        </p:nvSpPr>
        <p:spPr>
          <a:xfrm>
            <a:off x="736600" y="3619500"/>
            <a:ext cx="3429000" cy="152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sz="1050" b="0" i="0" u="none" strike="noStrike">
                <a:solidFill>
                  <a:srgbClr val="2E384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· 字段映射只是第一步，仍需补标准化记录</a:t>
            </a:r>
            <a:endParaRPr sz="1100"/>
          </a:p>
          <a:p>
            <a:pPr marL="0" indent="0" algn="l">
              <a:lnSpc>
                <a:spcPct val="133000"/>
              </a:lnSpc>
              <a:buNone/>
            </a:pPr>
            <a:r>
              <a:rPr sz="1050" b="0" i="0" u="none" strike="noStrike">
                <a:solidFill>
                  <a:srgbClr val="2E384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· 客户-订单-商品-活动-履约互相关联</a:t>
            </a:r>
            <a:endParaRPr sz="1050" b="0" i="0" u="none" strike="noStrike">
              <a:solidFill>
                <a:srgbClr val="2E384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sz="1050" b="0" i="0" u="none" strike="noStrike">
                <a:solidFill>
                  <a:srgbClr val="2E384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· 保留核算依据，后续补规则版本和行级血缘</a:t>
            </a:r>
            <a:endParaRPr sz="1050" b="0" i="0" u="none" strike="noStrike">
              <a:solidFill>
                <a:srgbClr val="2E384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AutoShape 12"/>
          <p:cNvSpPr>
            <a:spLocks noGrp="1"/>
          </p:cNvSpPr>
          <p:nvPr/>
        </p:nvSpPr>
        <p:spPr>
          <a:xfrm>
            <a:off x="736600" y="5270500"/>
            <a:ext cx="3352800" cy="12700"/>
          </a:xfrm>
          <a:prstGeom prst="roundRect">
            <a:avLst>
              <a:gd name="adj" fmla="val 0"/>
            </a:avLst>
          </a:prstGeom>
          <a:solidFill>
            <a:srgbClr val="D9E2EC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13" name="AutoShape 13"/>
          <p:cNvSpPr>
            <a:spLocks noGrp="1"/>
          </p:cNvSpPr>
          <p:nvPr/>
        </p:nvSpPr>
        <p:spPr>
          <a:xfrm>
            <a:off x="736600" y="5461000"/>
            <a:ext cx="3429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1000" b="0" i="0" u="none" strike="noStrike">
                <a:solidFill>
                  <a:srgbClr val="5D6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出问题时能逐步定位是哪一层出了问题。</a:t>
            </a:r>
            <a:endParaRPr sz="1100"/>
          </a:p>
        </p:txBody>
      </p:sp>
      <p:sp>
        <p:nvSpPr>
          <p:cNvPr id="14" name="AutoShape 14"/>
          <p:cNvSpPr>
            <a:spLocks noGrp="1"/>
          </p:cNvSpPr>
          <p:nvPr/>
        </p:nvSpPr>
        <p:spPr>
          <a:xfrm>
            <a:off x="4699000" y="1460500"/>
            <a:ext cx="63500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900" b="0" i="0" u="none" strike="noStrike" spc="150">
                <a:solidFill>
                  <a:srgbClr val="5D6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四层结构 · 从下到上</a:t>
            </a:r>
            <a:endParaRPr sz="1100"/>
          </a:p>
        </p:txBody>
      </p:sp>
      <p:sp>
        <p:nvSpPr>
          <p:cNvPr id="15" name="AutoShape 15"/>
          <p:cNvSpPr>
            <a:spLocks noGrp="1"/>
          </p:cNvSpPr>
          <p:nvPr/>
        </p:nvSpPr>
        <p:spPr>
          <a:xfrm>
            <a:off x="4699000" y="1841500"/>
            <a:ext cx="6985000" cy="889000"/>
          </a:xfrm>
          <a:prstGeom prst="roundRect">
            <a:avLst>
              <a:gd name="adj" fmla="val 0"/>
            </a:avLst>
          </a:prstGeom>
          <a:solidFill>
            <a:srgbClr val="0B2D52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16" name="AutoShape 16"/>
          <p:cNvSpPr>
            <a:spLocks noGrp="1"/>
          </p:cNvSpPr>
          <p:nvPr/>
        </p:nvSpPr>
        <p:spPr>
          <a:xfrm>
            <a:off x="4927600" y="2006600"/>
            <a:ext cx="12700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1100">
                <a:solidFill>
                  <a:schemeClr val="bg1"/>
                </a:solidFill>
              </a:rPr>
              <a:t>结果层</a:t>
            </a:r>
            <a:endParaRPr sz="1100">
              <a:solidFill>
                <a:schemeClr val="bg1"/>
              </a:solidFill>
            </a:endParaRPr>
          </a:p>
        </p:txBody>
      </p:sp>
      <p:sp>
        <p:nvSpPr>
          <p:cNvPr id="17" name="AutoShape 17"/>
          <p:cNvSpPr>
            <a:spLocks noGrp="1"/>
          </p:cNvSpPr>
          <p:nvPr/>
        </p:nvSpPr>
        <p:spPr>
          <a:xfrm>
            <a:off x="4927600" y="2286000"/>
            <a:ext cx="66040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1000" b="0" i="0" u="none" strike="noStrike">
                <a:solidFill>
                  <a:srgbClr val="C7D5E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保存理论优惠、实际优惠、差异、费用汇总等核算结果；口径和版本待统一</a:t>
            </a:r>
            <a:endParaRPr sz="1100"/>
          </a:p>
        </p:txBody>
      </p:sp>
      <p:sp>
        <p:nvSpPr>
          <p:cNvPr id="18" name="AutoShape 18"/>
          <p:cNvSpPr>
            <a:spLocks noGrp="1"/>
          </p:cNvSpPr>
          <p:nvPr/>
        </p:nvSpPr>
        <p:spPr>
          <a:xfrm>
            <a:off x="4699000" y="2857500"/>
            <a:ext cx="6985000" cy="889000"/>
          </a:xfrm>
          <a:prstGeom prst="roundRect">
            <a:avLst>
              <a:gd name="adj" fmla="val 0"/>
            </a:avLst>
          </a:prstGeom>
          <a:solidFill>
            <a:srgbClr val="155E9A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19" name="AutoShape 19"/>
          <p:cNvSpPr>
            <a:spLocks noGrp="1"/>
          </p:cNvSpPr>
          <p:nvPr/>
        </p:nvSpPr>
        <p:spPr>
          <a:xfrm>
            <a:off x="4927600" y="3022600"/>
            <a:ext cx="12700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1100">
                <a:solidFill>
                  <a:schemeClr val="bg1"/>
                </a:solidFill>
              </a:rPr>
              <a:t>事实层</a:t>
            </a:r>
            <a:endParaRPr sz="1100">
              <a:solidFill>
                <a:schemeClr val="bg1"/>
              </a:solidFill>
            </a:endParaRPr>
          </a:p>
        </p:txBody>
      </p:sp>
      <p:sp>
        <p:nvSpPr>
          <p:cNvPr id="20" name="AutoShape 20"/>
          <p:cNvSpPr>
            <a:spLocks noGrp="1"/>
          </p:cNvSpPr>
          <p:nvPr/>
        </p:nvSpPr>
        <p:spPr>
          <a:xfrm>
            <a:off x="4927600" y="3327400"/>
            <a:ext cx="6604000" cy="381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1000" b="0" i="0" u="none" strike="noStrike">
                <a:solidFill>
                  <a:srgbClr val="DCE8F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客户、商品、订单、履约、活动等业务对象及关联 · 快马舟谱已入库</a:t>
            </a:r>
            <a:endParaRPr sz="1100"/>
          </a:p>
        </p:txBody>
      </p:sp>
      <p:sp>
        <p:nvSpPr>
          <p:cNvPr id="21" name="AutoShape 21"/>
          <p:cNvSpPr>
            <a:spLocks noGrp="1"/>
          </p:cNvSpPr>
          <p:nvPr/>
        </p:nvSpPr>
        <p:spPr>
          <a:xfrm>
            <a:off x="4699000" y="3873500"/>
            <a:ext cx="6985000" cy="8890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25400" cmpd="sng">
            <a:solidFill>
              <a:srgbClr val="E87A2E">
                <a:alpha val="10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22" name="AutoShape 22"/>
          <p:cNvSpPr>
            <a:spLocks noGrp="1"/>
          </p:cNvSpPr>
          <p:nvPr/>
        </p:nvSpPr>
        <p:spPr>
          <a:xfrm>
            <a:off x="4927600" y="4038600"/>
            <a:ext cx="25400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non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1100" b="1" i="0" u="none" strike="noStrike">
                <a:solidFill>
                  <a:srgbClr val="E87A2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标准层</a:t>
            </a:r>
            <a:r>
              <a:rPr sz="1100" b="1" i="0" u="none" strike="noStrike">
                <a:solidFill>
                  <a:srgbClr val="E87A2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endParaRPr sz="1100"/>
          </a:p>
        </p:txBody>
      </p:sp>
      <p:sp>
        <p:nvSpPr>
          <p:cNvPr id="23" name="AutoShape 23"/>
          <p:cNvSpPr>
            <a:spLocks noGrp="1"/>
          </p:cNvSpPr>
          <p:nvPr/>
        </p:nvSpPr>
        <p:spPr>
          <a:xfrm>
            <a:off x="4927600" y="4381500"/>
            <a:ext cx="6604000" cy="3175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non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1000" b="0" i="0" u="none" strike="noStrike">
                <a:solidFill>
                  <a:srgbClr val="2E384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字段映射已完成，标准化记录、质量检查和标准表待补</a:t>
            </a:r>
            <a:endParaRPr sz="1100"/>
          </a:p>
        </p:txBody>
      </p:sp>
      <p:sp>
        <p:nvSpPr>
          <p:cNvPr id="24" name="AutoShape 24"/>
          <p:cNvSpPr>
            <a:spLocks noGrp="1"/>
          </p:cNvSpPr>
          <p:nvPr/>
        </p:nvSpPr>
        <p:spPr>
          <a:xfrm>
            <a:off x="4699000" y="4889500"/>
            <a:ext cx="6985000" cy="889000"/>
          </a:xfrm>
          <a:prstGeom prst="roundRect">
            <a:avLst>
              <a:gd name="adj" fmla="val 0"/>
            </a:avLst>
          </a:prstGeom>
          <a:solidFill>
            <a:srgbClr val="F0F2F5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25" name="AutoShape 25"/>
          <p:cNvSpPr>
            <a:spLocks noGrp="1"/>
          </p:cNvSpPr>
          <p:nvPr/>
        </p:nvSpPr>
        <p:spPr>
          <a:xfrm>
            <a:off x="4927600" y="5054600"/>
            <a:ext cx="12700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1100"/>
              <a:t>原始</a:t>
            </a:r>
            <a:r>
              <a:rPr sz="1100"/>
              <a:t>层</a:t>
            </a:r>
            <a:endParaRPr sz="1100"/>
          </a:p>
        </p:txBody>
      </p:sp>
      <p:sp>
        <p:nvSpPr>
          <p:cNvPr id="26" name="AutoShape 26"/>
          <p:cNvSpPr>
            <a:spLocks noGrp="1"/>
          </p:cNvSpPr>
          <p:nvPr/>
        </p:nvSpPr>
        <p:spPr>
          <a:xfrm>
            <a:off x="4927600" y="5397500"/>
            <a:ext cx="6604000" cy="3175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non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1000" b="0" i="0" u="none" strike="noStrike">
                <a:solidFill>
                  <a:srgbClr val="5D6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登记来源、批次、源文件；后续补逐行原始数据和行级对应</a:t>
            </a:r>
            <a:endParaRPr sz="1100"/>
          </a:p>
        </p:txBody>
      </p:sp>
      <p:sp>
        <p:nvSpPr>
          <p:cNvPr id="27" name="AutoShape 27"/>
          <p:cNvSpPr>
            <a:spLocks noGrp="1"/>
          </p:cNvSpPr>
          <p:nvPr/>
        </p:nvSpPr>
        <p:spPr>
          <a:xfrm>
            <a:off x="514350" y="6534150"/>
            <a:ext cx="7620000" cy="228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800" b="0" i="0" u="none" strike="noStrike">
                <a:solidFill>
                  <a:srgbClr val="7B87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来源：EC101 IT 工作进展说明 · 2026-09-27</a:t>
            </a:r>
            <a:endParaRPr sz="1100"/>
          </a:p>
        </p:txBody>
      </p:sp>
      <p:sp>
        <p:nvSpPr>
          <p:cNvPr id="28" name="AutoShape 28"/>
          <p:cNvSpPr>
            <a:spLocks noGrp="1"/>
          </p:cNvSpPr>
          <p:nvPr/>
        </p:nvSpPr>
        <p:spPr>
          <a:xfrm>
            <a:off x="10858500" y="6534150"/>
            <a:ext cx="819150" cy="228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sz="800" b="1" i="0" u="none" strike="noStrike">
                <a:solidFill>
                  <a:srgbClr val="0B2D5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EC101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514350" y="342900"/>
            <a:ext cx="10414000" cy="457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2200" b="1" i="0" u="none" strike="noStrike">
                <a:solidFill>
                  <a:srgbClr val="0B2D5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阶段三：运营平台功能展示</a:t>
            </a:r>
            <a:endParaRPr sz="1100"/>
          </a:p>
        </p:txBody>
      </p:sp>
      <p:sp>
        <p:nvSpPr>
          <p:cNvPr id="5" name="AutoShape 5"/>
          <p:cNvSpPr>
            <a:spLocks noGrp="1"/>
          </p:cNvSpPr>
          <p:nvPr/>
        </p:nvSpPr>
        <p:spPr>
          <a:xfrm>
            <a:off x="514350" y="1152525"/>
            <a:ext cx="11163300" cy="19050"/>
          </a:xfrm>
          <a:prstGeom prst="roundRect">
            <a:avLst>
              <a:gd name="adj" fmla="val 0"/>
            </a:avLst>
          </a:prstGeom>
          <a:solidFill>
            <a:srgbClr val="D9E2EC">
              <a:alpha val="100000"/>
            </a:srgbClr>
          </a:solidFill>
          <a:ln w="25400" cmpd="sng">
            <a:noFill/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6" name="AutoShape 6"/>
          <p:cNvSpPr>
            <a:spLocks noGrp="1"/>
          </p:cNvSpPr>
          <p:nvPr/>
        </p:nvSpPr>
        <p:spPr>
          <a:xfrm>
            <a:off x="514350" y="1460500"/>
            <a:ext cx="50800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endParaRPr sz="1100"/>
          </a:p>
        </p:txBody>
      </p:sp>
      <p:sp>
        <p:nvSpPr>
          <p:cNvPr id="7" name="AutoShape 7"/>
          <p:cNvSpPr>
            <a:spLocks noGrp="1"/>
          </p:cNvSpPr>
          <p:nvPr/>
        </p:nvSpPr>
        <p:spPr>
          <a:xfrm>
            <a:off x="514350" y="1841500"/>
            <a:ext cx="5588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8" name="AutoShape 8"/>
          <p:cNvSpPr>
            <a:spLocks noGrp="1"/>
          </p:cNvSpPr>
          <p:nvPr/>
        </p:nvSpPr>
        <p:spPr>
          <a:xfrm>
            <a:off x="736600" y="2006600"/>
            <a:ext cx="3810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endParaRPr sz="1100"/>
          </a:p>
        </p:txBody>
      </p:sp>
      <p:sp>
        <p:nvSpPr>
          <p:cNvPr id="9" name="AutoShape 9"/>
          <p:cNvSpPr>
            <a:spLocks noGrp="1"/>
          </p:cNvSpPr>
          <p:nvPr/>
        </p:nvSpPr>
        <p:spPr>
          <a:xfrm>
            <a:off x="1143000" y="2006600"/>
            <a:ext cx="48260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endParaRPr sz="1100"/>
          </a:p>
        </p:txBody>
      </p:sp>
      <p:sp>
        <p:nvSpPr>
          <p:cNvPr id="10" name="AutoShape 10"/>
          <p:cNvSpPr>
            <a:spLocks noGrp="1"/>
          </p:cNvSpPr>
          <p:nvPr/>
        </p:nvSpPr>
        <p:spPr>
          <a:xfrm>
            <a:off x="1143000" y="2349500"/>
            <a:ext cx="4826000" cy="3175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endParaRPr sz="1100"/>
          </a:p>
        </p:txBody>
      </p:sp>
      <p:sp>
        <p:nvSpPr>
          <p:cNvPr id="11" name="AutoShape 11"/>
          <p:cNvSpPr>
            <a:spLocks noGrp="1"/>
          </p:cNvSpPr>
          <p:nvPr/>
        </p:nvSpPr>
        <p:spPr>
          <a:xfrm>
            <a:off x="3175000" y="2819400"/>
            <a:ext cx="254000" cy="228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non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endParaRPr sz="1100"/>
          </a:p>
        </p:txBody>
      </p:sp>
      <p:sp>
        <p:nvSpPr>
          <p:cNvPr id="12" name="AutoShape 12"/>
          <p:cNvSpPr>
            <a:spLocks noGrp="1"/>
          </p:cNvSpPr>
          <p:nvPr/>
        </p:nvSpPr>
        <p:spPr>
          <a:xfrm>
            <a:off x="514350" y="3086100"/>
            <a:ext cx="5588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13" name="AutoShape 13"/>
          <p:cNvSpPr>
            <a:spLocks noGrp="1"/>
          </p:cNvSpPr>
          <p:nvPr/>
        </p:nvSpPr>
        <p:spPr>
          <a:xfrm>
            <a:off x="736600" y="3251200"/>
            <a:ext cx="3810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endParaRPr sz="1100"/>
          </a:p>
        </p:txBody>
      </p:sp>
      <p:sp>
        <p:nvSpPr>
          <p:cNvPr id="14" name="AutoShape 14"/>
          <p:cNvSpPr>
            <a:spLocks noGrp="1"/>
          </p:cNvSpPr>
          <p:nvPr/>
        </p:nvSpPr>
        <p:spPr>
          <a:xfrm>
            <a:off x="1143000" y="3251200"/>
            <a:ext cx="48260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endParaRPr sz="1100"/>
          </a:p>
        </p:txBody>
      </p:sp>
      <p:sp>
        <p:nvSpPr>
          <p:cNvPr id="15" name="AutoShape 15"/>
          <p:cNvSpPr>
            <a:spLocks noGrp="1"/>
          </p:cNvSpPr>
          <p:nvPr/>
        </p:nvSpPr>
        <p:spPr>
          <a:xfrm>
            <a:off x="1143000" y="3594100"/>
            <a:ext cx="4826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17000"/>
              </a:lnSpc>
              <a:buNone/>
            </a:pPr>
            <a:endParaRPr sz="1100"/>
          </a:p>
        </p:txBody>
      </p:sp>
      <p:sp>
        <p:nvSpPr>
          <p:cNvPr id="16" name="AutoShape 16"/>
          <p:cNvSpPr>
            <a:spLocks noGrp="1"/>
          </p:cNvSpPr>
          <p:nvPr/>
        </p:nvSpPr>
        <p:spPr>
          <a:xfrm>
            <a:off x="3175000" y="4216400"/>
            <a:ext cx="254000" cy="228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none" lIns="0" tIns="0" rIns="0" bIns="0" anchor="ctr"/>
          <a:lstStyle/>
          <a:p>
            <a:pPr marL="0" indent="0" algn="ctr">
              <a:lnSpc>
                <a:spcPct val="125000"/>
              </a:lnSpc>
              <a:buNone/>
            </a:pPr>
            <a:endParaRPr sz="1100"/>
          </a:p>
        </p:txBody>
      </p:sp>
      <p:sp>
        <p:nvSpPr>
          <p:cNvPr id="17" name="AutoShape 17"/>
          <p:cNvSpPr>
            <a:spLocks noGrp="1"/>
          </p:cNvSpPr>
          <p:nvPr/>
        </p:nvSpPr>
        <p:spPr>
          <a:xfrm>
            <a:off x="514350" y="4470400"/>
            <a:ext cx="5588000" cy="1079500"/>
          </a:xfrm>
          <a:prstGeom prst="roundRect">
            <a:avLst>
              <a:gd name="adj" fmla="val 0"/>
            </a:avLst>
          </a:prstGeom>
          <a:solidFill>
            <a:srgbClr val="DDF5EF">
              <a:alpha val="100000"/>
            </a:srgbClr>
          </a:solidFill>
          <a:ln w="25400" cmpd="sng">
            <a:solidFill>
              <a:srgbClr val="155E9A">
                <a:alpha val="10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18" name="AutoShape 18"/>
          <p:cNvSpPr>
            <a:spLocks noGrp="1"/>
          </p:cNvSpPr>
          <p:nvPr/>
        </p:nvSpPr>
        <p:spPr>
          <a:xfrm>
            <a:off x="736600" y="4635500"/>
            <a:ext cx="3810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endParaRPr sz="1100"/>
          </a:p>
        </p:txBody>
      </p:sp>
      <p:sp>
        <p:nvSpPr>
          <p:cNvPr id="19" name="AutoShape 19"/>
          <p:cNvSpPr>
            <a:spLocks noGrp="1"/>
          </p:cNvSpPr>
          <p:nvPr/>
        </p:nvSpPr>
        <p:spPr>
          <a:xfrm>
            <a:off x="1143000" y="4635500"/>
            <a:ext cx="48260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endParaRPr sz="1100"/>
          </a:p>
        </p:txBody>
      </p:sp>
      <p:sp>
        <p:nvSpPr>
          <p:cNvPr id="20" name="AutoShape 20"/>
          <p:cNvSpPr>
            <a:spLocks noGrp="1"/>
          </p:cNvSpPr>
          <p:nvPr/>
        </p:nvSpPr>
        <p:spPr>
          <a:xfrm>
            <a:off x="1143000" y="4978400"/>
            <a:ext cx="4826000" cy="508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17000"/>
              </a:lnSpc>
              <a:buNone/>
            </a:pPr>
            <a:endParaRPr sz="1100"/>
          </a:p>
        </p:txBody>
      </p:sp>
      <p:sp>
        <p:nvSpPr>
          <p:cNvPr id="21" name="AutoShape 21"/>
          <p:cNvSpPr>
            <a:spLocks noGrp="1"/>
          </p:cNvSpPr>
          <p:nvPr/>
        </p:nvSpPr>
        <p:spPr>
          <a:xfrm>
            <a:off x="6477000" y="1460500"/>
            <a:ext cx="50800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endParaRPr sz="1100"/>
          </a:p>
        </p:txBody>
      </p:sp>
      <p:sp>
        <p:nvSpPr>
          <p:cNvPr id="22" name="AutoShape 22"/>
          <p:cNvSpPr>
            <a:spLocks noGrp="1"/>
          </p:cNvSpPr>
          <p:nvPr/>
        </p:nvSpPr>
        <p:spPr>
          <a:xfrm>
            <a:off x="6477000" y="1841500"/>
            <a:ext cx="51943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23" name="AutoShape 23"/>
          <p:cNvSpPr>
            <a:spLocks noGrp="1"/>
          </p:cNvSpPr>
          <p:nvPr/>
        </p:nvSpPr>
        <p:spPr>
          <a:xfrm>
            <a:off x="6705600" y="2032000"/>
            <a:ext cx="46990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endParaRPr sz="1100"/>
          </a:p>
        </p:txBody>
      </p:sp>
      <p:sp>
        <p:nvSpPr>
          <p:cNvPr id="24" name="AutoShape 24"/>
          <p:cNvSpPr>
            <a:spLocks noGrp="1"/>
          </p:cNvSpPr>
          <p:nvPr/>
        </p:nvSpPr>
        <p:spPr>
          <a:xfrm>
            <a:off x="6705600" y="2387600"/>
            <a:ext cx="4762500" cy="889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33000"/>
              </a:lnSpc>
              <a:buNone/>
            </a:pPr>
            <a:endParaRPr sz="1100"/>
          </a:p>
        </p:txBody>
      </p:sp>
      <p:sp>
        <p:nvSpPr>
          <p:cNvPr id="25" name="AutoShape 25"/>
          <p:cNvSpPr>
            <a:spLocks noGrp="1"/>
          </p:cNvSpPr>
          <p:nvPr/>
        </p:nvSpPr>
        <p:spPr>
          <a:xfrm>
            <a:off x="6477000" y="3556000"/>
            <a:ext cx="5194300" cy="1727200"/>
          </a:xfrm>
          <a:prstGeom prst="roundRect">
            <a:avLst>
              <a:gd name="adj" fmla="val 0"/>
            </a:avLst>
          </a:prstGeom>
          <a:solidFill>
            <a:srgbClr val="FFFAF0">
              <a:alpha val="100000"/>
            </a:srgbClr>
          </a:solidFill>
          <a:ln w="12700" cmpd="sng">
            <a:solidFill>
              <a:srgbClr val="E87A2E">
                <a:alpha val="100000"/>
              </a:srgbClr>
            </a:solidFill>
            <a:prstDash val="solid"/>
          </a:ln>
        </p:spPr>
        <p:txBody>
          <a:bodyPr vert="horz" wrap="square" lIns="63500" tIns="63500" rIns="63500" bIns="63500" anchor="ctr"/>
          <a:lstStyle/>
          <a:p>
            <a:pPr algn="ctr">
              <a:buNone/>
            </a:pPr>
          </a:p>
        </p:txBody>
      </p:sp>
      <p:sp>
        <p:nvSpPr>
          <p:cNvPr id="26" name="AutoShape 26"/>
          <p:cNvSpPr>
            <a:spLocks noGrp="1"/>
          </p:cNvSpPr>
          <p:nvPr/>
        </p:nvSpPr>
        <p:spPr>
          <a:xfrm>
            <a:off x="6705600" y="3746500"/>
            <a:ext cx="4699000" cy="2540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endParaRPr sz="1100"/>
          </a:p>
        </p:txBody>
      </p:sp>
      <p:sp>
        <p:nvSpPr>
          <p:cNvPr id="27" name="AutoShape 27"/>
          <p:cNvSpPr>
            <a:spLocks noGrp="1"/>
          </p:cNvSpPr>
          <p:nvPr/>
        </p:nvSpPr>
        <p:spPr>
          <a:xfrm>
            <a:off x="6705600" y="4089400"/>
            <a:ext cx="4762500" cy="10795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33000"/>
              </a:lnSpc>
              <a:buNone/>
            </a:pPr>
            <a:endParaRPr sz="1050" b="0" i="0" u="none" strike="noStrike">
              <a:solidFill>
                <a:srgbClr val="2E384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AutoShape 28"/>
          <p:cNvSpPr>
            <a:spLocks noGrp="1"/>
          </p:cNvSpPr>
          <p:nvPr/>
        </p:nvSpPr>
        <p:spPr>
          <a:xfrm>
            <a:off x="514350" y="6534150"/>
            <a:ext cx="7620000" cy="228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800" b="0" i="0" u="none" strike="noStrike">
                <a:solidFill>
                  <a:srgbClr val="7B879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来源：EC101 IT 工作进展说明 · 2026-09-27</a:t>
            </a:r>
            <a:endParaRPr sz="1100"/>
          </a:p>
        </p:txBody>
      </p:sp>
      <p:sp>
        <p:nvSpPr>
          <p:cNvPr id="29" name="AutoShape 29"/>
          <p:cNvSpPr>
            <a:spLocks noGrp="1"/>
          </p:cNvSpPr>
          <p:nvPr/>
        </p:nvSpPr>
        <p:spPr>
          <a:xfrm>
            <a:off x="10858500" y="6534150"/>
            <a:ext cx="819150" cy="2286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sz="800" b="1" i="0" u="none" strike="noStrike">
                <a:solidFill>
                  <a:srgbClr val="0B2D5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EC101</a:t>
            </a:r>
            <a:endParaRPr sz="1100"/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14350" y="1333500"/>
            <a:ext cx="11163300" cy="491490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514350" y="1457325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>
                <a:solidFill>
                  <a:srgbClr val="5D6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00">
                <a:solidFill>
                  <a:srgbClr val="5D6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支持业务查询、活动查看与权益结果追溯</a:t>
            </a:r>
            <a:endParaRPr sz="900">
              <a:solidFill>
                <a:srgbClr val="5D6B7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514350" y="1819275"/>
            <a:ext cx="5486400" cy="3752850"/>
          </a:xfrm>
          <a:prstGeom prst="roundRect">
            <a:avLst>
              <a:gd name="adj" fmla="val 203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704850" y="1971675"/>
            <a:ext cx="14287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50" b="1">
                <a:solidFill>
                  <a:srgbClr val="0B2D5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50" b="1">
                <a:solidFill>
                  <a:srgbClr val="0B2D5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业务数据</a:t>
            </a:r>
            <a:endParaRPr sz="1150" b="1">
              <a:solidFill>
                <a:srgbClr val="0B2D5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04850" y="2257425"/>
            <a:ext cx="504825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50">
                <a:solidFill>
                  <a:srgbClr val="5D6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50">
                <a:solidFill>
                  <a:srgbClr val="5D6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按订单、订单明细、活动等标准化对象查询真实入库数据</a:t>
            </a:r>
            <a:endParaRPr sz="850">
              <a:solidFill>
                <a:srgbClr val="5D6B7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73" name="图片 72"/>
          <p:cNvPicPr>
            <a:picLocks noChangeAspect="1"/>
          </p:cNvPicPr>
          <p:nvPr/>
        </p:nvPicPr>
        <p:blipFill>
          <a:blip r:embed="rId1"/>
          <a:srcRect t="41" b="41"/>
          <a:stretch>
            <a:fillRect/>
          </a:stretch>
        </p:blipFill>
        <p:spPr>
          <a:xfrm>
            <a:off x="647700" y="2571750"/>
            <a:ext cx="5219700" cy="2933700"/>
          </a:xfrm>
          <a:prstGeom prst="rect">
            <a:avLst/>
          </a:prstGeom>
        </p:spPr>
      </p:pic>
      <p:sp>
        <p:nvSpPr>
          <p:cNvPr id="36" name="矩形 35"/>
          <p:cNvSpPr>
            <a:spLocks noGrp="1"/>
          </p:cNvSpPr>
          <p:nvPr/>
        </p:nvSpPr>
        <p:spPr>
          <a:xfrm>
            <a:off x="647700" y="5715000"/>
            <a:ext cx="52197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50">
                <a:solidFill>
                  <a:srgbClr val="5D6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50">
                <a:solidFill>
                  <a:srgbClr val="5D6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当前示例：订单对象共 9,622 行，支持经销商筛选、详情下钻与导出</a:t>
            </a:r>
            <a:endParaRPr sz="850">
              <a:solidFill>
                <a:srgbClr val="5D6B7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6191250" y="1819275"/>
            <a:ext cx="5486400" cy="3752850"/>
          </a:xfrm>
          <a:prstGeom prst="roundRect">
            <a:avLst>
              <a:gd name="adj" fmla="val 2030"/>
            </a:avLst>
          </a:prstGeom>
          <a:solidFill>
            <a:srgbClr val="FFFFFF"/>
          </a:solidFill>
          <a:ln w="11430">
            <a:solidFill>
              <a:srgbClr val="D9E2EC"/>
            </a:solidFill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6381750" y="1971675"/>
            <a:ext cx="14287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50" b="1">
                <a:solidFill>
                  <a:srgbClr val="0B2D5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50" b="1">
                <a:solidFill>
                  <a:srgbClr val="0B2D5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活动中心</a:t>
            </a:r>
            <a:endParaRPr sz="1150" b="1">
              <a:solidFill>
                <a:srgbClr val="0B2D5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6381750" y="2257425"/>
            <a:ext cx="504825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50">
                <a:solidFill>
                  <a:srgbClr val="5D6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50">
                <a:solidFill>
                  <a:srgbClr val="5D6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集中查看活动执行状态、权益结果与待确认事项</a:t>
            </a:r>
            <a:endParaRPr sz="850">
              <a:solidFill>
                <a:srgbClr val="5D6B7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78" name="图片 77"/>
          <p:cNvPicPr>
            <a:picLocks noChangeAspect="1"/>
          </p:cNvPicPr>
          <p:nvPr/>
        </p:nvPicPr>
        <p:blipFill>
          <a:blip r:embed="rId2"/>
          <a:srcRect t="41" b="41"/>
          <a:stretch>
            <a:fillRect/>
          </a:stretch>
        </p:blipFill>
        <p:spPr>
          <a:xfrm>
            <a:off x="6324600" y="2571750"/>
            <a:ext cx="5219700" cy="2933700"/>
          </a:xfrm>
          <a:prstGeom prst="rect">
            <a:avLst/>
          </a:prstGeom>
        </p:spPr>
      </p:pic>
      <p:sp>
        <p:nvSpPr>
          <p:cNvPr id="41" name="矩形 40"/>
          <p:cNvSpPr>
            <a:spLocks noGrp="1"/>
          </p:cNvSpPr>
          <p:nvPr/>
        </p:nvSpPr>
        <p:spPr>
          <a:xfrm>
            <a:off x="6324600" y="5715000"/>
            <a:ext cx="52197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50">
                <a:solidFill>
                  <a:srgbClr val="5D6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50">
                <a:solidFill>
                  <a:srgbClr val="5D6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当前示例：满减、满赠、返券等活动按金额权益与赠品权益分别展示</a:t>
            </a:r>
            <a:endParaRPr sz="850">
              <a:solidFill>
                <a:srgbClr val="5D6B7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514350" y="342900"/>
            <a:ext cx="10414000" cy="457200"/>
          </a:xfrm>
          <a:prstGeom prst="rect">
            <a:avLst/>
          </a:prstGeom>
          <a:noFill/>
          <a:ln w="12700" cmpd="sng">
            <a:noFill/>
            <a:prstDash val="solid"/>
          </a:ln>
        </p:spPr>
        <p:txBody>
          <a:bodyPr vert="horz"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2200" b="1">
                <a:solidFill>
                  <a:srgbClr val="0B2D5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下一阶段</a:t>
            </a:r>
            <a:r>
              <a:rPr sz="2200" b="1">
                <a:solidFill>
                  <a:srgbClr val="0B2D5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工作</a:t>
            </a:r>
            <a:r>
              <a:rPr sz="2200" b="1">
                <a:solidFill>
                  <a:srgbClr val="0B2D5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计划</a:t>
            </a:r>
            <a:endParaRPr sz="2200" b="1">
              <a:solidFill>
                <a:srgbClr val="0B2D5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graphicFrame>
        <p:nvGraphicFramePr>
          <p:cNvPr id="5" name="表格 2"/>
          <p:cNvGraphicFramePr/>
          <p:nvPr/>
        </p:nvGraphicFramePr>
        <p:xfrm>
          <a:off x="365125" y="1600200"/>
          <a:ext cx="11461750" cy="4515485"/>
        </p:xfrm>
        <a:graphic>
          <a:graphicData uri="http://schemas.openxmlformats.org/drawingml/2006/table">
            <a:tbl>
              <a:tblPr/>
              <a:tblGrid>
                <a:gridCol w="922655"/>
                <a:gridCol w="1375410"/>
                <a:gridCol w="738505"/>
                <a:gridCol w="738505"/>
                <a:gridCol w="737870"/>
                <a:gridCol w="1799590"/>
                <a:gridCol w="574675"/>
                <a:gridCol w="574040"/>
                <a:gridCol w="574675"/>
                <a:gridCol w="574040"/>
                <a:gridCol w="574675"/>
                <a:gridCol w="574675"/>
                <a:gridCol w="574040"/>
                <a:gridCol w="574675"/>
                <a:gridCol w="553720"/>
              </a:tblGrid>
              <a:tr h="1746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 i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状态图例</a:t>
                      </a:r>
                      <a:endParaRPr sz="700" b="1" i="0">
                        <a:solidFill>
                          <a:srgbClr val="000000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已完成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进行中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计划 </a:t>
                      </a: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/ </a:t>
                      </a: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调整预留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000000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000000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000000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000000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000000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000000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000000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000000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000000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000000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000000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000000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000000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000000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000000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000000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000000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000000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000000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000000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000000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000000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000000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000000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000000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000000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117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工作流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任务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开始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完成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状态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关键交付物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09/02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09/07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09/14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09/21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09/28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10/05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10/12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10/19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10</a:t>
                      </a: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月</a:t>
                      </a: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24</a:t>
                      </a: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日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业务闭环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业务梳理与数据准入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2026-09-02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2026-09-11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已完成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活动规则、数据源与准入口径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业务梳理与数据准入</a:t>
                      </a:r>
                      <a:endParaRPr sz="6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70AD47"/>
                    </a:solidFill>
                  </a:tcPr>
                </a:tc>
                <a:tc hMerge="1">
                  <a:tcPr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业务闭环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多平台活动闭环验证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2026-09-12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2026-09-18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已完成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快马、舟谱闭环验证；财经云延后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多平台活动闭环验证</a:t>
                      </a:r>
                      <a:endParaRPr sz="6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70AD47"/>
                    </a:solidFill>
                  </a:tcPr>
                </a:tc>
                <a:tc hMerge="1">
                  <a:tcPr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数据底座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双平台 </a:t>
                      </a: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MVP </a:t>
                      </a: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共库与核算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2026-09-19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2026-09-24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已完成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双平台 </a:t>
                      </a: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CORE</a:t>
                      </a: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、</a:t>
                      </a: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RESULT</a:t>
                      </a: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、血缘与核验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双平台 </a:t>
                      </a:r>
                      <a:r>
                        <a:rPr sz="6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MVP </a:t>
                      </a:r>
                      <a:r>
                        <a:rPr sz="6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共库与核算</a:t>
                      </a:r>
                      <a:endParaRPr sz="6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70AD47"/>
                    </a:solidFill>
                  </a:tcPr>
                </a:tc>
                <a:tc hMerge="1">
                  <a:tcPr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数据底座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数据缺口确认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2026-09-25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2026-10-02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进行中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补充</a:t>
                      </a: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业务员数据、其他</a:t>
                      </a: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3</a:t>
                      </a: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家经销商数据</a:t>
                      </a: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入库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完成</a:t>
                      </a:r>
                      <a:r>
                        <a:rPr sz="6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6</a:t>
                      </a:r>
                      <a:r>
                        <a:rPr sz="6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家经销商全</a:t>
                      </a:r>
                      <a:r>
                        <a:rPr sz="6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量数据入库</a:t>
                      </a:r>
                      <a:endParaRPr sz="6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 hMerge="1">
                  <a:tcP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cPr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产品设计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费用平台 </a:t>
                      </a: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V1 PRD</a:t>
                      </a: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、原型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2026-09-25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2026-09-27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进行中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TPM </a:t>
                      </a: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运营台、业务数据模块、</a:t>
                      </a: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KPI / </a:t>
                      </a: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分销预留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6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费用平台 </a:t>
                      </a:r>
                      <a:r>
                        <a:rPr sz="6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V1 PRD </a:t>
                      </a:r>
                      <a:r>
                        <a:rPr sz="6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与接口口径</a:t>
                      </a:r>
                      <a:endParaRPr sz="6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6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服务层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本地 </a:t>
                      </a: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SQLite </a:t>
                      </a: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真实数据 </a:t>
                      </a: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API </a:t>
                      </a: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与前端联调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2026-09-26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2026-10-03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计划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跨平台只读 </a:t>
                      </a: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API</a:t>
                      </a: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、订单查询、业务数据筛选与导出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本地真实数据 </a:t>
                      </a: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API </a:t>
                      </a: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与前端联调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8064A2"/>
                    </a:solidFill>
                  </a:tcPr>
                </a:tc>
                <a:tc hMerge="1">
                  <a:tcPr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600" b="1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费用平台 </a:t>
                      </a: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V1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真实数据展示页面与查询联调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2026-10-05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2026-10-16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进行中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经销商总览、业务数据、活动台账、订单证据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真实数据展示与查询联调</a:t>
                      </a:r>
                      <a:endParaRPr sz="6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 hMerge="1">
                  <a:tcPr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600" b="1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增长运营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4DF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KPI / </a:t>
                      </a: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分销模块</a:t>
                      </a: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/</a:t>
                      </a: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竞品分析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4D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2026-10-05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4D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2026-10-09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4DF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计划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保留入口、数据依赖和后续接口，不开发正式指标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4DF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KPI / </a:t>
                      </a: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分销</a:t>
                      </a: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/</a:t>
                      </a: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竞品分销架构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8064A2"/>
                    </a:solidFill>
                  </a:tcPr>
                </a:tc>
                <a:tc hMerge="1">
                  <a:tcPr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600" b="1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600" b="1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27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0" i="0">
                          <a:solidFill>
                            <a:srgbClr val="1F1F1F"/>
                          </a:solidFill>
                          <a:latin typeface="Carlito"/>
                          <a:ea typeface="Carlito"/>
                          <a:cs typeface="Carlito"/>
                        </a:rPr>
                        <a:t>验收</a:t>
                      </a:r>
                      <a:endParaRPr sz="800" b="0" i="0">
                        <a:solidFill>
                          <a:srgbClr val="1F1F1F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0" i="0">
                          <a:solidFill>
                            <a:srgbClr val="1F1F1F"/>
                          </a:solidFill>
                          <a:latin typeface="Carlito"/>
                          <a:ea typeface="Carlito"/>
                          <a:cs typeface="Carlito"/>
                        </a:rPr>
                        <a:t>测试以及使用培训</a:t>
                      </a:r>
                      <a:endParaRPr sz="800" b="0" i="0">
                        <a:solidFill>
                          <a:srgbClr val="1F1F1F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00" b="0" i="0">
                          <a:solidFill>
                            <a:srgbClr val="1F1F1F"/>
                          </a:solidFill>
                          <a:latin typeface="Carlito"/>
                          <a:ea typeface="Carlito"/>
                          <a:cs typeface="Carlito"/>
                        </a:rPr>
                        <a:t>2026-10-12</a:t>
                      </a:r>
                      <a:endParaRPr sz="800" b="0" i="0">
                        <a:solidFill>
                          <a:srgbClr val="1F1F1F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00" b="0" i="0">
                          <a:solidFill>
                            <a:srgbClr val="1F1F1F"/>
                          </a:solidFill>
                          <a:latin typeface="Carlito"/>
                          <a:ea typeface="Carlito"/>
                          <a:cs typeface="Carlito"/>
                        </a:rPr>
                        <a:t>2026-10-16</a:t>
                      </a:r>
                      <a:endParaRPr sz="800" b="0" i="0">
                        <a:solidFill>
                          <a:srgbClr val="1F1F1F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计划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0" i="0">
                          <a:solidFill>
                            <a:srgbClr val="1F1F1F"/>
                          </a:solidFill>
                          <a:latin typeface="Carlito"/>
                          <a:ea typeface="Carlito"/>
                          <a:cs typeface="Carlito"/>
                        </a:rPr>
                        <a:t>真实案例演示、操作说明</a:t>
                      </a:r>
                      <a:endParaRPr sz="800" b="0" i="0">
                        <a:solidFill>
                          <a:srgbClr val="1F1F1F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1F1F1F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1F1F1F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1F1F1F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1F1F1F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1F1F1F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真实数据测试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8064A2"/>
                    </a:solidFill>
                  </a:tcPr>
                </a:tc>
                <a:tc hMerge="1">
                  <a:tcPr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1F1F1F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1F1F1F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0" i="0">
                          <a:solidFill>
                            <a:srgbClr val="1F1F1F"/>
                          </a:solidFill>
                          <a:latin typeface="Carlito"/>
                          <a:ea typeface="Carlito"/>
                          <a:cs typeface="Carlito"/>
                        </a:rPr>
                        <a:t>调整预留</a:t>
                      </a:r>
                      <a:endParaRPr sz="800" b="0" i="0">
                        <a:solidFill>
                          <a:srgbClr val="1F1F1F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4DF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0" i="0">
                          <a:solidFill>
                            <a:srgbClr val="1F1F1F"/>
                          </a:solidFill>
                          <a:latin typeface="Carlito"/>
                          <a:ea typeface="Carlito"/>
                          <a:cs typeface="Carlito"/>
                        </a:rPr>
                        <a:t>修复、口径调整与验收</a:t>
                      </a:r>
                      <a:endParaRPr sz="800" b="0" i="0">
                        <a:solidFill>
                          <a:srgbClr val="1F1F1F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4D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00" b="0" i="0">
                          <a:solidFill>
                            <a:srgbClr val="1F1F1F"/>
                          </a:solidFill>
                          <a:latin typeface="Carlito"/>
                          <a:ea typeface="Carlito"/>
                          <a:cs typeface="Carlito"/>
                        </a:rPr>
                        <a:t>2026-10-19</a:t>
                      </a:r>
                      <a:endParaRPr sz="800" b="0" i="0">
                        <a:solidFill>
                          <a:srgbClr val="1F1F1F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4D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00" b="0" i="0">
                          <a:solidFill>
                            <a:srgbClr val="1F1F1F"/>
                          </a:solidFill>
                          <a:latin typeface="Carlito"/>
                          <a:ea typeface="Carlito"/>
                          <a:cs typeface="Carlito"/>
                        </a:rPr>
                        <a:t>2026-10-24</a:t>
                      </a:r>
                      <a:endParaRPr sz="800" b="0" i="0">
                        <a:solidFill>
                          <a:srgbClr val="1F1F1F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4DF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 i="0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</a:rPr>
                        <a:t>调整预留</a:t>
                      </a:r>
                      <a:endParaRPr sz="800" b="1" i="0">
                        <a:solidFill>
                          <a:srgbClr val="FFFFFF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0" i="0">
                          <a:solidFill>
                            <a:srgbClr val="1F1F1F"/>
                          </a:solidFill>
                          <a:latin typeface="Carlito"/>
                          <a:ea typeface="Carlito"/>
                          <a:cs typeface="Carlito"/>
                        </a:rPr>
                        <a:t>只处理已发现问题，不新增范围</a:t>
                      </a:r>
                      <a:endParaRPr sz="800" b="0" i="0">
                        <a:solidFill>
                          <a:srgbClr val="1F1F1F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4DF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1F1F1F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1F1F1F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1F1F1F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1F1F1F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1F1F1F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1F1F1F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1F1F1F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 i="0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</a:rPr>
                        <a:t>修复、口径调整与验收</a:t>
                      </a:r>
                      <a:endParaRPr sz="800" b="1" i="0">
                        <a:solidFill>
                          <a:srgbClr val="FFFFFF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8064A2"/>
                    </a:solidFill>
                  </a:tcPr>
                </a:tc>
                <a:tc hMerge="1">
                  <a:tcPr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2160</Words>
  <Application>WPS 演示</Application>
  <PresentationFormat>Converted Presentation</PresentationFormat>
  <Paragraphs>352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24" baseType="lpstr">
      <vt:lpstr>Arial</vt:lpstr>
      <vt:lpstr>宋体</vt:lpstr>
      <vt:lpstr>Wingdings</vt:lpstr>
      <vt:lpstr>Arial</vt:lpstr>
      <vt:lpstr>PingFang SC</vt:lpstr>
      <vt:lpstr>Aptos</vt:lpstr>
      <vt:lpstr>Helvetica Neue</vt:lpstr>
      <vt:lpstr>Carlito</vt:lpstr>
      <vt:lpstr>微软雅黑</vt:lpstr>
      <vt:lpstr>方正雅意黑 GB18030L2</vt:lpstr>
      <vt:lpstr>宋体</vt:lpstr>
      <vt:lpstr>Arial Unicode MS</vt:lpstr>
      <vt:lpstr>汉仪书宋二KW</vt:lpstr>
      <vt:lpstr>苹方-简</vt:lpstr>
      <vt:lpstr>Aptos</vt:lpstr>
      <vt:lpstr>Carlito</vt:lpstr>
      <vt:lpstr>Office 主题​​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詹小凡</cp:lastModifiedBy>
  <cp:revision>1</cp:revision>
  <dcterms:created xsi:type="dcterms:W3CDTF">2026-09-28T04:42:00Z</dcterms:created>
  <dcterms:modified xsi:type="dcterms:W3CDTF">2026-09-28T04:42:00Z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2052-12.1.26055.26055</vt:lpwstr>
  </property>
  <property fmtid="{D5CDD505-2E9C-101B-9397-08002B2CF9AE}" pid="3" name="ICV">
    <vt:lpwstr>E69629D2B12EA66618F0B96A5BA2C76B_42</vt:lpwstr>
  </property>
</Properties>
</file>