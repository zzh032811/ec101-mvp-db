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249e79f1214f4b" /><Relationship Type="http://schemas.openxmlformats.org/officeDocument/2006/relationships/extended-properties" Target="/docProps/app.xml" Id="R85dbc8e12c8e4d04" /><Relationship Type="http://schemas.openxmlformats.org/officeDocument/2006/relationships/officeDocument" Target="/ppt/presentation.xml" Id="Rafa63644765e4b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c98cfd888e4dd1"/>
    <p:sldMasterId xmlns:r="http://schemas.openxmlformats.org/officeDocument/2006/relationships" id="2147483660" r:id="Rb47470e472de4700"/>
  </p:sldMasterIdLst>
  <p:notesMasterIdLst>
    <p:notesMasterId xmlns:r="http://schemas.openxmlformats.org/officeDocument/2006/relationships" r:id="R5a816dba2fd14a11"/>
  </p:notesMasterIdLst>
  <p:sldIdLst>
    <p:sldId xmlns:r="http://schemas.openxmlformats.org/officeDocument/2006/relationships" id="256" r:id="R32ce1dd906994313"/>
    <p:sldId xmlns:r="http://schemas.openxmlformats.org/officeDocument/2006/relationships" id="257" r:id="R8327848b720547da"/>
    <p:sldId xmlns:r="http://schemas.openxmlformats.org/officeDocument/2006/relationships" id="258" r:id="Ree07a66853004c3d"/>
    <p:sldId xmlns:r="http://schemas.openxmlformats.org/officeDocument/2006/relationships" id="259" r:id="Re44cf685b1754b4b"/>
    <p:sldId xmlns:r="http://schemas.openxmlformats.org/officeDocument/2006/relationships" id="260" r:id="Ra73654dfd3384c20"/>
    <p:sldId xmlns:r="http://schemas.openxmlformats.org/officeDocument/2006/relationships" id="261" r:id="R5f746c77d322404a"/>
  </p:sldIdLst>
  <p:sldSz cx="12192000" cy="6858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L="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L="457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L="914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L="1371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L="18288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L="22860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L="27432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L="32004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L="3657600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62349d0a0f4f09" /><Relationship Type="http://schemas.openxmlformats.org/officeDocument/2006/relationships/slideMaster" Target="/ppt/slideMasters/slideMaster1.xml" Id="Rfbc98cfd888e4dd1" /><Relationship Type="http://schemas.openxmlformats.org/officeDocument/2006/relationships/slideMaster" Target="/ppt/slideMasters/slideMaster2.xml" Id="Rb47470e472de4700" /><Relationship Type="http://schemas.openxmlformats.org/officeDocument/2006/relationships/notesMaster" Target="/ppt/notesMasters/notesMaster1.xml" Id="R5a816dba2fd14a11" /><Relationship Type="http://schemas.openxmlformats.org/officeDocument/2006/relationships/presProps" Target="/ppt/presProps.xml" Id="Rec99ae9343da4bab" /><Relationship Type="http://schemas.openxmlformats.org/officeDocument/2006/relationships/viewProps" Target="/ppt/viewProps.xml" Id="R970ec26f74e94fec" /><Relationship Type="http://schemas.openxmlformats.org/officeDocument/2006/relationships/tableStyles" Target="/ppt/tableStyles.xml" Id="R223ec58d4e6144ec" /><Relationship Type="http://schemas.openxmlformats.org/officeDocument/2006/relationships/slide" Target="/ppt/slides/slide1.xml" Id="R32ce1dd906994313" /><Relationship Type="http://schemas.openxmlformats.org/officeDocument/2006/relationships/slide" Target="/ppt/slides/slide2.xml" Id="R8327848b720547da" /><Relationship Type="http://schemas.openxmlformats.org/officeDocument/2006/relationships/slide" Target="/ppt/slides/slide3.xml" Id="Ree07a66853004c3d" /><Relationship Type="http://schemas.openxmlformats.org/officeDocument/2006/relationships/slide" Target="/ppt/slides/slide4.xml" Id="Re44cf685b1754b4b" /><Relationship Type="http://schemas.openxmlformats.org/officeDocument/2006/relationships/slide" Target="/ppt/slides/slide5.xml" Id="Ra73654dfd3384c20" /><Relationship Type="http://schemas.openxmlformats.org/officeDocument/2006/relationships/slide" Target="/ppt/slides/slide6.xml" Id="R5f746c77d32240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f2f1db0dea545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be72dd09ce42c7" /><Relationship Type="http://schemas.openxmlformats.org/officeDocument/2006/relationships/notesMaster" Target="/ppt/notesMasters/notesMaster1.xml" Id="R9159df0b15d240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442bbdbe8c49bb" /><Relationship Type="http://schemas.openxmlformats.org/officeDocument/2006/relationships/notesMaster" Target="/ppt/notesMasters/notesMaster1.xml" Id="R8de574e2487c47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27fe498ad14bac" /><Relationship Type="http://schemas.openxmlformats.org/officeDocument/2006/relationships/notesMaster" Target="/ppt/notesMasters/notesMaster1.xml" Id="Rc458e37dd80e43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4c2576e7b94542" /><Relationship Type="http://schemas.openxmlformats.org/officeDocument/2006/relationships/notesMaster" Target="/ppt/notesMasters/notesMaster1.xml" Id="R331359b6f39e4e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fafc652ef0403f" /><Relationship Type="http://schemas.openxmlformats.org/officeDocument/2006/relationships/notesMaster" Target="/ppt/notesMasters/notesMaster1.xml" Id="R7c02a5ec9da846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ee524c243249e0" /><Relationship Type="http://schemas.openxmlformats.org/officeDocument/2006/relationships/notesMaster" Target="/ppt/notesMasters/notesMaster1.xml" Id="R40006c0a0f42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 defTabSz="914400">
              <a:lnSpc>
                <a:spcPct val="100000"/>
              </a:lnSpc>
              <a:buNone/>
            </a:pPr>
            <a:endParaRPr sz="12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 defTabSz="914400">
              <a:lnSpc>
                <a:spcPct val="100000"/>
              </a:lnSpc>
              <a:buNone/>
            </a:pPr>
            <a:r>
              <a:rPr>
                <a:solidFill>
                  <a:srgbClr val="000000"/>
                </a:solidFill>
              </a:rPr>
              <a:t>各位好，下面由我介绍 EC101 项目 IT 这边的工作进展。</a:t>
            </a:r>
            <a:endParaRPr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 defTabSz="914400">
              <a:lnSpc>
                <a:spcPct val="100000"/>
              </a:lnSpc>
              <a:buNone/>
            </a:pPr>
            <a:r>
              <a:rPr>
                <a:solidFill>
                  <a:srgbClr val="000000"/>
                </a:solidFill>
              </a:rPr>
              <a:t>目前我们已经用部分经销商的真实数据，初步串起了从数据验证、入库到页面展示的流程，也能够展示一笔订单的优惠核对结果是怎么得出来的。</a:t>
            </a:r>
            <a:endParaRPr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 defTabSz="914400">
              <a:lnSpc>
                <a:spcPct val="100000"/>
              </a:lnSpc>
              <a:buNone/>
            </a:pPr>
            <a:r>
              <a:rPr>
                <a:solidFill>
                  <a:srgbClr val="000000"/>
                </a:solidFill>
              </a:rPr>
              <a:t>接下来重点是把现有流程完善成能够持续更新、重复运行的流程。整个工作分三个阶段：促销闭环验证、四层数据库、费用运营平台。下面按这三个阶段展开。</a:t>
            </a:r>
            <a:endParaRPr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阶段一是促销闭环验证：经销商提供的数据，能不能支撑我们核对活动执行情况。目前原计划覆盖 6 家先锋经销商，快马顺英、兴路强和舟谱羿柏已</a:t>
            </a:r>
            <a:r>
              <a:rPr sz="1400" b="0" i="0" u="none" strike="noStrike">
                <a:solidFill>
                  <a:srgbClr val="000000"/>
                </a:solidFill>
              </a:rPr>
              <a:t>完成费用闭环验证</a:t>
            </a:r>
            <a:r>
              <a:rPr sz="1400" b="0" i="0" u="none" strike="noStrike">
                <a:solidFill>
                  <a:srgbClr val="000000"/>
                </a:solidFill>
              </a:rPr>
              <a:t>，其余 3 家还需要补充数据。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阶段二是数据库建设：不同平台的数据怎样按统一口径保存和关联。目前快马和舟谱已经进入同一业务事实层和结果层，标准层主要完成了字段映射，标准化记录和质量检查还要补。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阶段三是费用运营平台：方便查看</a:t>
            </a:r>
            <a:r>
              <a:rPr sz="1400" b="0" i="0" u="none" strike="noStrike">
                <a:solidFill>
                  <a:srgbClr val="000000"/>
                </a:solidFill>
              </a:rPr>
              <a:t>数据</a:t>
            </a:r>
            <a:r>
              <a:rPr sz="1400" b="0" i="0" u="none" strike="noStrike">
                <a:solidFill>
                  <a:srgbClr val="000000"/>
                </a:solidFill>
              </a:rPr>
              <a:t>、核对和跟进。目前本地可以现场演示，正式投入使用前还要补登录、权限、审计和线上部署。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阶段一，我们先收集经销商平台的客户、商品、订单、活动明细和活动配置等资料，需要时再结合</a:t>
            </a:r>
            <a:r>
              <a:rPr sz="1400" b="0" i="0" u="none" strike="noStrike">
                <a:solidFill>
                  <a:srgbClr val="000000"/>
                </a:solidFill>
              </a:rPr>
              <a:t>业务员</a:t>
            </a:r>
            <a:r>
              <a:rPr sz="1400" b="0" i="0" u="none" strike="noStrike">
                <a:solidFill>
                  <a:srgbClr val="000000"/>
                </a:solidFill>
              </a:rPr>
              <a:t>或履约数据，检查这些信息能不能关联起来。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所谓闭环验证，可以用一笔订单理解。比如活动规则是"可口可乐指定商品满 300 元减 15 元"。我们要确认四件事：这笔订单是否在活动期间、是否参与了这个活动、参与活动的商品金额是否达到 300、平台实际记录的优惠是不是 15 元。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也就是说，我们一方面按活动规则算出这笔订单应该享受多少优惠，另一方面看平台实际给了多少，两边核对。有差异就继续查原因；如果缺活动配置、订单状态等关键信息，就暂时不形成结论，先补数据。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有了第一阶段的验证，为什么还要建设数据库？因为随着经销商、活动和数据批次增加，我们需要持续保存和更新数据，让不同平台按同一套口径查询和核算。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举个简单例子，同样表示客户编号，不同平台可能用不同字段名。我们先明确这些字段含义，再映射到统一的客户编号字段。更进一步，还要把客户与订单、订单与商品、活动和履约记录关联起来，并保留每次核算的依据和结果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所以我们用四层结构。RAW 原始层登记数据来源和批次；STANDARD 标准层把不同平台转成统一口径；CORE 业务事实层组织客户、商品、订单、履约、活动对象；RESULT 结果层保存理论优惠、实际优惠、差异和费用汇总。</a:t>
            </a:r>
            <a:endParaRPr sz="1400" b="0" i="0" u="none" strike="noStrike">
              <a:solidFill>
                <a:srgbClr val="000000"/>
              </a:solidFill>
            </a:endParaRP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这样业务看到一个结果，可以再查：对应哪笔订单、依据什么规则、由哪次计算产生。目前快马和舟谱已经进入同一套 CORE 和 RESULT，验证了这套结构能承载不同平台。完整自动处理流程还要继续完善，尤其是 STANDARD 层，目前主要完成了字段映射，标准化记录和质量检查还要补。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 strike="noStrike">
                <a:solidFill>
                  <a:srgbClr val="000000"/>
                </a:solidFill>
              </a:rPr>
              <a:t>本页展示当前费用运营台的真实数据界面。左侧业务数据页可按订单、订单明细、活动等标准化对象查询已入库数据，支持经销商筛选、详情下钻与导出。右侧活动中心集中展示满减、满赠、返券等活动的执行状态、权益结果与待确认事项。金额权益与赠品权益分别展示，核算结果来自已核验快照，不在前端重新计算。</a:t>
            </a:r>
            <a:endParaRPr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a8d0196428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6141b62da4c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679ba5edda42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3aa7b35754a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077228ba046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3a937cf9d4f9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3b21b1f83e4d1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557f6e536430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73e0163044f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2d89ca31940d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0a0ce1d7d46b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00b61687dd1475e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E4C54787-12A2-4486-824B-B6B979B9FB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B32FA88B-F2DC-4DB1-962F-FACDE417D6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F31ECC3C-497B-48D1-B507-A8094798E4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DF1B131A-2C93-47FB-855F-9FB2DE65EE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3FB3660E-869D-4AF2-A579-F828D787E7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39489DBC-F062-4B48-B32B-1BEB1BC5CA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58B3AD40-A7EE-45A6-ACDA-CE9B8210CD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3427A4D0-CD12-48CC-8E1C-6EE7BF3133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71736FBD-C2FD-43A3-A95F-B792935C10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3E33042B-C842-4BD4-BD3A-2F1176DB78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C6A30530-9E3C-42A9-88B1-9A62CC8EEC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BCED5BC7-05C1-4063-9CF0-345353984B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EFB52FF-0E88-4561-9837-F0D7A89FF0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355C05CC-685F-40B6-87E6-19E947C306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7AD84965-95B1-4B09-9A13-15BD4BC07F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827D7AF1-229C-4FE6-9361-7B158316A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0DAB0564-020C-43D9-B9F4-8D41F0E8AF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D257EF29-41EC-4A88-944C-61B668F7D8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7C7AF286-E7AB-4416-B6C3-4113C2ACD6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574E9381-3051-4973-A6B9-90F3ED3B2A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E0B299A9-35EB-4529-AF7E-C66605EEB0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912B9FA6-CDD9-444E-9B86-8CDB139ACC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31F35DF0-8005-48FA-A4DB-842F3634B5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F1FF4FED-2A76-4411-9E36-2D6FA37AC9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6EEC957F-4557-4946-BABF-6EDB512623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AED7EBB2-6616-464C-B025-F74687FFA55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E761DA6F-9B72-4475-8681-6355B5C87E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D0B1390A-A8BC-4318-88DF-BFE22068B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49C176FB-5E29-43F9-97AC-1012B4A7F37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14E8FDA-B5C3-4DE3-AB4C-2A72C4C72C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54AF0A67-8FDE-4F45-A123-0CB63E12E9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8E8692D0-ADF7-4EAD-883B-534717BC2D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FC1BA475-CD77-4202-BE9E-3CE8B80511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556B9386-134E-44A8-BC7A-D2FF7491EAF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4D15D97F-1D2F-4B54-BEEF-744A63459E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93908F81-3C80-40C5-8144-85BC37CAAE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99FC4199-C3A9-425E-88FB-E4467673BF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0868C7A2-D1D4-4655-9B95-3A9939354F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1BA687F-C332-4EB4-A97D-742B605F7F9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A27CB06A-F443-4D90-B85D-4DB4E8CB3F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7FA66D72-785E-4D00-8ECB-B655C69C82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14A8609-A7E9-470A-AA79-2905B18062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68D346DE-CB6F-49BA-A4B6-1DA617115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7CE99BFD-6E3B-4D19-BFA6-9A2A83E2C4C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2E2BFBF5-90D1-49F9-9ED9-9F825CCA8A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7AF8062D-AAD8-4906-ADC1-95DED3D6E2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18D8ACB6-D47F-4C52-88DE-8D7D186BD9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DBE31AAF-B2BF-4108-9327-5CBAE49C2B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51C41AE2-CBE6-40D7-93AB-9AD38F21DF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9D5846E7-5438-450B-9181-F65179C7AD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B4231A49-C356-4C40-A147-E7D27DFD1C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65440E37-1386-4F83-B837-D3A6D2312A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62DC9E04-699F-4986-8ACB-64F696A6275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73D0C284-85A8-4C7C-B042-9B0B618A9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99CB72DE-94F2-42DD-A430-670E189BB2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DF4A8F4B-010F-410D-8135-A51FD35BA7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0635C023-DA69-4A75-A852-02720A0658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F9B1A344-A551-4E46-864D-2AA7C8DA2E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9c5e03fd44792" /><Relationship Type="http://schemas.openxmlformats.org/officeDocument/2006/relationships/slideLayout" Target="/ppt/slideLayouts/slideLayout1.xml" Id="R4e32514b98054ae5" /><Relationship Type="http://schemas.openxmlformats.org/officeDocument/2006/relationships/slideLayout" Target="/ppt/slideLayouts/slideLayout2.xml" Id="Rd62efe97d7f54adf" /><Relationship Type="http://schemas.openxmlformats.org/officeDocument/2006/relationships/slideLayout" Target="/ppt/slideLayouts/slideLayout3.xml" Id="R30d0aeb15bfe41ec" /><Relationship Type="http://schemas.openxmlformats.org/officeDocument/2006/relationships/slideLayout" Target="/ppt/slideLayouts/slideLayout4.xml" Id="Raa340c9a959d4015" /><Relationship Type="http://schemas.openxmlformats.org/officeDocument/2006/relationships/slideLayout" Target="/ppt/slideLayouts/slideLayout5.xml" Id="Rab5f5a57a2a34102" /><Relationship Type="http://schemas.openxmlformats.org/officeDocument/2006/relationships/slideLayout" Target="/ppt/slideLayouts/slideLayout6.xml" Id="Rf0f5c9c07a74487f" /><Relationship Type="http://schemas.openxmlformats.org/officeDocument/2006/relationships/slideLayout" Target="/ppt/slideLayouts/slideLayout7.xml" Id="R130efc2270dc444a" /><Relationship Type="http://schemas.openxmlformats.org/officeDocument/2006/relationships/slideLayout" Target="/ppt/slideLayouts/slideLayout8.xml" Id="R336b1c311c99454b" /><Relationship Type="http://schemas.openxmlformats.org/officeDocument/2006/relationships/slideLayout" Target="/ppt/slideLayouts/slideLayout9.xml" Id="Rbbefc4d93d4b4ad4" /><Relationship Type="http://schemas.openxmlformats.org/officeDocument/2006/relationships/slideLayout" Target="/ppt/slideLayouts/slideLayout10.xml" Id="R3f6fa928dc344a11" /><Relationship Type="http://schemas.openxmlformats.org/officeDocument/2006/relationships/slideLayout" Target="/ppt/slideLayouts/slideLayout11.xml" Id="R6aea4f0d7d2e433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c6ad5633ec64fb0" /><Relationship Type="http://schemas.openxmlformats.org/officeDocument/2006/relationships/slideLayout" Target="/ppt/slideLayouts/slideLayout12.xml" Id="Rea14d1743b194f4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DC884DCF-BACD-4BF0-A74C-7D5CD4116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D0FB1856-9475-4A9D-8956-4B11835C4E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38DD0CD1-88C7-42F3-938F-EA82EA4CD4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AC7FD24A-EFCE-45DC-8038-BB415D39B5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6B91E9C5-3EC4-40E9-9A0F-70ECCEFDD7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32514b98054ae5"/>
    <p:sldLayoutId xmlns:r="http://schemas.openxmlformats.org/officeDocument/2006/relationships" id="2147483650" r:id="Rd62efe97d7f54adf"/>
    <p:sldLayoutId xmlns:r="http://schemas.openxmlformats.org/officeDocument/2006/relationships" id="2147483651" r:id="R30d0aeb15bfe41ec"/>
    <p:sldLayoutId xmlns:r="http://schemas.openxmlformats.org/officeDocument/2006/relationships" id="2147483652" r:id="Raa340c9a959d4015"/>
    <p:sldLayoutId xmlns:r="http://schemas.openxmlformats.org/officeDocument/2006/relationships" id="2147483653" r:id="Rab5f5a57a2a34102"/>
    <p:sldLayoutId xmlns:r="http://schemas.openxmlformats.org/officeDocument/2006/relationships" id="2147483654" r:id="Rf0f5c9c07a74487f"/>
    <p:sldLayoutId xmlns:r="http://schemas.openxmlformats.org/officeDocument/2006/relationships" id="2147483655" r:id="R130efc2270dc444a"/>
    <p:sldLayoutId xmlns:r="http://schemas.openxmlformats.org/officeDocument/2006/relationships" id="2147483656" r:id="R336b1c311c99454b"/>
    <p:sldLayoutId xmlns:r="http://schemas.openxmlformats.org/officeDocument/2006/relationships" id="2147483657" r:id="Rbbefc4d93d4b4ad4"/>
    <p:sldLayoutId xmlns:r="http://schemas.openxmlformats.org/officeDocument/2006/relationships" id="2147483658" r:id="R3f6fa928dc344a11"/>
    <p:sldLayoutId xmlns:r="http://schemas.openxmlformats.org/officeDocument/2006/relationships" id="2147483659" r:id="R6aea4f0d7d2e433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a14d1743b194f4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f7bc894a9d94733" /><Relationship Type="http://schemas.openxmlformats.org/officeDocument/2006/relationships/image" Target="/ppt/media/image.png" Id="R23d311aaeb8646ee" /><Relationship Type="http://schemas.openxmlformats.org/officeDocument/2006/relationships/notesSlide" Target="/ppt/notesSlides/notesSlide1.xml" Id="R15251c88394543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83f090c83ba40d7" /><Relationship Type="http://schemas.openxmlformats.org/officeDocument/2006/relationships/notesSlide" Target="/ppt/notesSlides/notesSlide2.xml" Id="Re79393fb46874c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59a63ac34c4965" /><Relationship Type="http://schemas.openxmlformats.org/officeDocument/2006/relationships/notesSlide" Target="/ppt/notesSlides/notesSlide3.xml" Id="Rebe7cc84154c43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0ca99334c2641a9" /><Relationship Type="http://schemas.openxmlformats.org/officeDocument/2006/relationships/notesSlide" Target="/ppt/notesSlides/notesSlide4.xml" Id="R6f5ab83c1f7c49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89473cd98c4f05" /><Relationship Type="http://schemas.openxmlformats.org/officeDocument/2006/relationships/image" Target="/ppt/media/image.jpeg" Id="R80c8b3c15af64617" /><Relationship Type="http://schemas.openxmlformats.org/officeDocument/2006/relationships/image" Target="/ppt/media/image2.jpeg" Id="R7a8f71ebfa7e4cda" /><Relationship Type="http://schemas.openxmlformats.org/officeDocument/2006/relationships/notesSlide" Target="/ppt/notesSlides/notesSlide5.xml" Id="R82576e90b9c342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70c15a096340a1" /><Relationship Type="http://schemas.openxmlformats.org/officeDocument/2006/relationships/notesSlide" Target="/ppt/notesSlides/notesSlide6.xml" Id="R6802ca5d9cf04f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311aaeb8646ee"/>
          <a:srcRect xmlns:a="http://schemas.openxmlformats.org/drawingml/2006/main" l="0" t="0" r="0" b="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3000" y="1905000"/>
            <a:ext cx="5080000" cy="3048000"/>
          </a:xfrm>
          <a:prstGeom xmlns:a="http://schemas.openxmlformats.org/drawingml/2006/main" prst="roundRect">
            <a:avLst>
              <a:gd name="adj" fmla="val 4166"/>
            </a:avLst>
          </a:prstGeom>
          <a:ln xmlns:a="http://schemas.openxmlformats.org/drawingml/2006/main" w="12700" cap="flat" cmpd="sng">
            <a:solidFill>
              <a:srgbClr val="D9E2EC">
                <a:alpha val="100000"/>
              </a:srgbClr>
            </a:solidFill>
            <a:prstDash val="solid"/>
            <a:round/>
          </a:ln>
        </p:spPr>
      </p:pic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A0C4EDE-7B96-48E3-A6AE-AD95FD13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2159000"/>
            <a:ext cx="508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7A2E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60DF995-FD78-44A7-AEFF-05B5173B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300" b="1" i="0" u="none" strike="noStrike" spc="200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>EC101 数据底座与费用平台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768C7B1-7595-424D-B1FD-F036C68A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40000"/>
            <a:ext cx="533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8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项目进度汇报</a:t>
            </a:r>
            <a:endParaRPr sz="1100"/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DC9BA80-AEDE-4C01-8BA5-51AB4588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3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0" i="0" u="none" strike="noStrike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从闭环验证、四层数据库到费用运营台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BE1C4EE-B267-479B-A20F-3C0C8B0D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50546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000" b="0" i="0" u="none" strike="noStrike" spc="100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>费用运营平台 · 真实数据演示</a:t>
            </a:r>
            <a:endParaRPr sz="1100"/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ACA8BA9-54CD-489B-A9CD-4A2826AE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58000"/>
              </a:lnSpc>
              <a:buNone/>
            </a:pPr>
            <a:r>
              <a:rPr sz="11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汇报日期　2026-09-28</a:t>
            </a:r>
            <a:endParaRPr sz="1100"/>
          </a:p>
          <a:p xmlns:a="http://schemas.openxmlformats.org/drawingml/2006/main">
            <a:pPr marL="0" indent="0" algn="l">
              <a:lnSpc>
                <a:spcPct val="158000"/>
              </a:lnSpc>
              <a:buNone/>
            </a:pPr>
            <a:r>
              <a:rPr sz="11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汇报范围　验证器 · MVP 数据库 · 费用运营台</a:t>
            </a:r>
            <a:endParaRPr sz="1150" b="0" i="0" u="none" strike="noStrike">
              <a:solidFill>
                <a:srgbClr val="2E3846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marL="0" indent="0" algn="l">
              <a:lnSpc>
                <a:spcPct val="158000"/>
              </a:lnSpc>
              <a:buNone/>
            </a:pPr>
            <a:r>
              <a:rPr sz="11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汇报</a:t>
            </a:r>
            <a:r>
              <a:rPr sz="11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人</a:t>
            </a:r>
            <a:r>
              <a:rPr sz="11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      </a:t>
            </a:r>
            <a:r>
              <a:rPr sz="11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詹小</a:t>
            </a:r>
            <a:r>
              <a:rPr sz="11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凡</a:t>
            </a:r>
            <a:endParaRPr sz="1150" b="0" i="0" u="none" strike="noStrike">
              <a:solidFill>
                <a:srgbClr val="2E384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932B8C8-414F-477A-B151-281A266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6223000"/>
            <a:ext cx="105664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6747095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A32BABF-DC5F-4226-9E96-E510F208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89AE3657-05DE-4E00-8A87-676CFF2D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556000" cy="431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9684812-75F9-470F-AF65-A931649E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556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E9A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17B3D7-8EA8-41DE-9D26-55D86DB4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1841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>阶段一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4D35AC47-C60B-4593-A8C4-BD7BFB55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222500"/>
            <a:ext cx="314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促销闭环验证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6A25B5A-96BF-4722-AD05-779538FA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048000"/>
            <a:ext cx="314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经销商提供的数据，能不能支撑我们核对活动执行情况</a:t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0CEF42B-70BD-472E-A083-4DEF9C1F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064000"/>
            <a:ext cx="31496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ACE4093-41F2-48EC-9E40-0DCB1B78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254500"/>
            <a:ext cx="3149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0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当前状态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A4BE6E17-6675-493A-B19E-740EF022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572000"/>
            <a:ext cx="314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原计划覆盖 6 家先锋经销商，目前 3 家已</a:t>
            </a: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完成费用闭环验证</a:t>
            </a: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，其余 3 家待补数据；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CC6A045B-7E0A-4A3B-82E1-0B9F63D5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431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4FC04B4-88C6-4727-AC21-1BBC5AD5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E9A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40F7B80-E507-48CC-B2B0-76B60565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1841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>阶段二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2D82A71-55C8-4580-80B1-515BB0FD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222500"/>
            <a:ext cx="314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数据库建设</a:t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BBBAE5C1-8C47-4667-A847-990FECED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3048000"/>
            <a:ext cx="314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不同平台的数据，怎样按统一口径保存和关联起来</a:t>
            </a:r>
            <a:endParaRPr sz="1100"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5F7460FE-BC42-4024-9473-A0E115E8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064000"/>
            <a:ext cx="31496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2000E52-0453-4E6D-A110-2D5F6242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254500"/>
            <a:ext cx="3149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0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当前状态</a:t>
            </a:r>
            <a:endParaRPr sz="1100"/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2ED5441B-66A2-4E04-8F1F-923C9CA0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4572000"/>
            <a:ext cx="314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快马和舟谱已进入同一 CORE / RESULT 表结构；</a:t>
            </a:r>
            <a:endParaRPr sz="1100"/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EAA2211B-F177-488C-B246-699A182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524000"/>
            <a:ext cx="3556000" cy="431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25400" cmpd="sng">
            <a:solidFill>
              <a:srgbClr val="E87A2E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7FCC275A-A3D2-4FCF-BFDD-9B3A5222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524000"/>
            <a:ext cx="3556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7A2E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6A239830-FA8A-4B5E-9FDC-07A22A73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18415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E87A2E"/>
                </a:solidFill>
                <a:latin typeface="PingFang SC"/>
                <a:ea typeface="PingFang SC"/>
                <a:cs typeface="PingFang SC"/>
              </a:rPr>
              <a:t>阶段三</a:t>
            </a:r>
            <a:endParaRPr sz="1100"/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32D3A37C-7CBE-4138-9E7B-E0424E3B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2222500"/>
            <a:ext cx="314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费用运营平台</a:t>
            </a:r>
            <a:endParaRPr sz="1100"/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09EECF75-088B-4080-8E16-2D1AC71C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3048000"/>
            <a:ext cx="314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怎样让方便地查看数据、核对结果和跟进异常</a:t>
            </a:r>
            <a:endParaRPr sz="1100"/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848551EB-44F4-470B-9A61-F6478F32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4064000"/>
            <a:ext cx="31496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4F06A853-31D1-4EB2-A5F0-21CE7886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4254500"/>
            <a:ext cx="31496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0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当前状态</a:t>
            </a:r>
            <a:endParaRPr sz="1100"/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65326446-3BB1-46BC-9C25-D23F6B4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600" y="4572000"/>
            <a:ext cx="314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本地可现场演示，业务数据页读取真实入库数据；</a:t>
            </a:r>
            <a:endParaRPr sz="1100"/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2E6EE5A0-7B63-41B2-A05D-6F7C856D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B8794"/>
                </a:solidFill>
                <a:latin typeface="PingFang SC"/>
                <a:ea typeface="PingFang SC"/>
                <a:cs typeface="PingFang SC"/>
              </a:rPr>
              <a:t>来源：EC101 IT 工作进展说明 · 2026-09-27</a:t>
            </a:r>
            <a:endParaRPr sz="1100"/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2120E8CB-E0EE-4EC5-85B2-F0522CB3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8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EC101</a:t>
            </a:r>
            <a:endParaRPr sz="1100"/>
          </a:p>
        </p:txBody>
      </p:sp>
      <p:sp>
        <p:nvSpPr>
          <p:cNvPr id="3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BBA2066-72C2-4113-B2A1-3BC3F741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41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2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已用部分经销商真实数据，初步串起验证、入库到展示的流程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8684206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E2FD90B-5E65-4394-B71B-D28F9648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41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2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阶段一：按订单核对理论优惠与平台实际优惠是否一致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ED1C3E3C-B9E7-4E46-90D3-62231C2E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664F8DA5-FBAE-407F-B74D-6D431FBC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0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第一步 · 收集并关联这些资料</a:t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8293C22-E2EF-4680-BFB8-1FD3C9F2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1500"/>
            <a:ext cx="4826000" cy="3810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28F8BB1-A9DC-48C7-A535-1C0F5B8D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095500"/>
            <a:ext cx="431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经销商平台导出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575063B-F1BF-4E5C-8F22-AF016C85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476500"/>
            <a:ext cx="1333500" cy="355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F5EF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0F3011C-CD86-4D7F-9418-4A40894F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476500"/>
            <a:ext cx="13335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客户资料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C2478E1-6FD9-4766-BF7C-FFBE9F6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2476500"/>
            <a:ext cx="1333500" cy="355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F5EF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DD9BE6E-DC81-4151-9C2A-C46DA5FB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000" y="2476500"/>
            <a:ext cx="13335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商品资料</a:t>
            </a:r>
            <a:endParaRPr sz="1100"/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1DDCEB6-9C52-4949-A2AE-24DB7ED8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1524000" cy="355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F5EF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80166F91-3E78-4953-A740-11D311A9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152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订单与活动明细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352B758-9BB2-4921-A18A-EC9D6967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921000"/>
            <a:ext cx="4368800" cy="355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F5EF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464008A4-6660-461D-BD45-F3B098B2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921000"/>
            <a:ext cx="43688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活动配置（满减 / 满赠 / 返券规则）</a:t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F2319373-932C-4AC3-B6E7-2829893D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492500"/>
            <a:ext cx="431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必要时补充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E254D602-8FDE-4692-AEB6-DB5E55DD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873500"/>
            <a:ext cx="2032000" cy="355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D1D3ABD-5164-4BEF-85E8-DD9399A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873500"/>
            <a:ext cx="203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业务员</a:t>
            </a:r>
            <a:r>
              <a:rPr sz="100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数据</a:t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0CFA9E33-9B82-4B06-A0F9-69855636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3873500"/>
            <a:ext cx="2235200" cy="3556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F7FA">
              <a:alpha val="100000"/>
            </a:srgbClr>
          </a:solidFill>
          <a:ln xmlns:a="http://schemas.openxmlformats.org/drawingml/2006/main" w="254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E0DE2484-58CD-4A04-A6D9-932F509D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200" y="3873500"/>
            <a:ext cx="22352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履约数据</a:t>
            </a:r>
            <a:endParaRPr sz="1100"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34534A2E-A1C8-4F1E-8595-4D43956A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508500"/>
            <a:ext cx="43688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把这些资料按客户、订单、商品、活动互相关联，缺哪一环就补哪一环，不强行凑结论。</a:t>
            </a:r>
            <a:endParaRPr sz="1100"/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D1829FE9-DC4F-4055-971D-E0C46A74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60500"/>
            <a:ext cx="596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第二步 · 用一笔订单理解"闭环核对"</a:t>
            </a:r>
            <a:endParaRPr sz="1100"/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0C9E9B32-2741-4177-AE33-A3406374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1500"/>
            <a:ext cx="5956300" cy="3810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C78E348E-9239-4C59-9C86-754D2DF7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558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示例规则：可口可乐指定商品满 300 元减 15 元</a:t>
            </a:r>
            <a:endParaRPr sz="1100"/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0C5F2DC3-822E-49A2-B70A-89F6D510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40000"/>
            <a:ext cx="38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>1</a:t>
            </a:r>
            <a:endParaRPr sz="1100"/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37CA2810-8754-42AA-AE67-8C2D243A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40000"/>
            <a:ext cx="52705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识别活动</a:t>
            </a:r>
            <a:r>
              <a:rPr sz="1050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这笔订单是否在活动期间内、是否参与了这个活动</a:t>
            </a:r>
            <a:endParaRPr sz="1100"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F19945B0-6F24-45D8-9460-D0C087865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1000"/>
            <a:ext cx="38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>2</a:t>
            </a:r>
            <a:endParaRPr sz="1100"/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468A70EC-871B-4999-8BD2-44496220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21000"/>
            <a:ext cx="52705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关联活动配置</a:t>
            </a:r>
            <a:r>
              <a:rPr sz="1050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：</a:t>
            </a: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参与活动的商品金额是否达到 300 元门槛</a:t>
            </a:r>
            <a:endParaRPr sz="1100"/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1DEA165C-0617-42AA-A9FD-2452921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02000"/>
            <a:ext cx="38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>3</a:t>
            </a:r>
            <a:endParaRPr sz="1100"/>
          </a:p>
        </p:txBody>
      </p:sp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B3A38A3D-2096-4A1F-A8CB-69D0C63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2000"/>
            <a:ext cx="52705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按规则计算理论优惠：</a:t>
            </a: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按规则计算理论优惠：满 300 减 15，应减 15 元</a:t>
            </a:r>
            <a:endParaRPr sz="1100"/>
          </a:p>
        </p:txBody>
      </p:sp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D21B0806-215B-4828-80A9-F945B5AA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83000"/>
            <a:ext cx="38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>4</a:t>
            </a:r>
            <a:endParaRPr sz="1100"/>
          </a:p>
        </p:txBody>
      </p:sp>
      <p:sp>
        <p:nvSpPr>
          <p:cNvPr id="33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C9EBF185-AC93-4A6A-8BD4-D72FCA64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83000"/>
            <a:ext cx="52705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对比</a:t>
            </a:r>
            <a:r>
              <a:rPr sz="1100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平台实际优惠：与理论值逐单核对</a:t>
            </a:r>
            <a:endParaRPr sz="1100"/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endParaRPr sz="1100"/>
          </a:p>
        </p:txBody>
      </p: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8AD14661-346E-4E41-BBB9-22C79AA7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27500"/>
            <a:ext cx="55118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AutoShape 35">
            <a:extLst xmlns:a="http://schemas.openxmlformats.org/drawingml/2006/main">
              <a:ext uri="{FF2B5EF4-FFF2-40B4-BE49-F238E27FC236}">
                <a16:creationId xmlns:a16="http://schemas.microsoft.com/office/drawing/2014/main" id="{D0E3CD82-9EB7-47F4-9789-03C9D1B9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18000"/>
            <a:ext cx="55118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两边一致 → 通过；有差异 → 继续查原因；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E87A2E"/>
                </a:solidFill>
                <a:latin typeface="PingFang SC"/>
                <a:ea typeface="PingFang SC"/>
                <a:cs typeface="PingFang SC"/>
              </a:rPr>
              <a:t>缺活动配置、订单状态等关键信息 → 暂时不形成结论，先补数据。</a:t>
            </a:r>
            <a:endParaRPr sz="1050" b="0" i="0" u="none" strike="noStrike">
              <a:solidFill>
                <a:srgbClr val="E87A2E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6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BAD0F796-3479-4A6A-9BC1-4FDC9101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B8794"/>
                </a:solidFill>
                <a:latin typeface="PingFang SC"/>
                <a:ea typeface="PingFang SC"/>
                <a:cs typeface="PingFang SC"/>
              </a:rPr>
              <a:t>来源：EC101 IT 工作进展说明 · 2026-09-27</a:t>
            </a:r>
            <a:endParaRPr sz="1100"/>
          </a:p>
        </p:txBody>
      </p:sp>
      <p:sp>
        <p:nvSpPr>
          <p:cNvPr id="37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2B426793-8B04-43D8-99DE-CD38A2DB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8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EC101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4721097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E8FF3B5-607D-4233-8F8A-42E79D4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41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2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阶段二：已搭建四层目标结构，逐步实现结果可追溯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E0F8D1B-E5A2-41CC-AA85-CAB7CB0E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9A5AEEC-2CFA-4B52-9839-A5F5A69E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1500"/>
            <a:ext cx="3810000" cy="419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1DD6554A-AEDD-4565-90E4-63A8C110F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032000"/>
            <a:ext cx="342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随着经销商、活动和数据批次增加，需要持续保存和更新数据，让不同平台逐步进入统一查询和核算口径。</a:t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8169112-FC36-442F-859B-1D608EC6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048000"/>
            <a:ext cx="33528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92DC277-4034-425B-BFB2-DF045461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238500"/>
            <a:ext cx="342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要做的不只是字段改名</a:t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A52D096-63D1-499F-BD5E-CF57DDFC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619500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· 字段映射只是第一步，仍需补标准化记录</a:t>
            </a:r>
            <a:endParaRPr sz="1100"/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· 客户-订单-商品-活动-履约互相关联</a:t>
            </a:r>
            <a:endParaRPr sz="1050" b="0" i="0" u="none" strike="noStrike">
              <a:solidFill>
                <a:srgbClr val="2E3846"/>
              </a:solidFill>
              <a:latin typeface="PingFang SC"/>
              <a:ea typeface="PingFang SC"/>
              <a:cs typeface="PingFang SC"/>
            </a:endParaRPr>
          </a:p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· 保留核算依据，后续补规则版本和行级血缘</a:t>
            </a:r>
            <a:endParaRPr sz="1050" b="0" i="0" u="none" strike="noStrike">
              <a:solidFill>
                <a:srgbClr val="2E384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E75C522-F9DA-42E4-B5AE-05870EFA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5270500"/>
            <a:ext cx="3352800" cy="12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EDF886D-CB5B-4DDD-A55B-E282A299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5461000"/>
            <a:ext cx="3429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出问题时能逐步定位是哪一层出了问题。</a:t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1FB3286E-5BBF-4E81-95B0-10054FF7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460500"/>
            <a:ext cx="635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四层结构 · 从下到上</a:t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BFE11D34-D18A-4CBF-B5AC-522CDED5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1841500"/>
            <a:ext cx="6985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B2D52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B9C51C0A-3937-4857-94C4-492DE327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20066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>
                <a:solidFill>
                  <a:schemeClr val="bg1"/>
                </a:solidFill>
              </a:rPr>
              <a:t>结果层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9EBFA60A-820F-43CF-B9C9-A2E79AB8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2286000"/>
            <a:ext cx="660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C7D5E3"/>
                </a:solidFill>
                <a:latin typeface="PingFang SC"/>
                <a:ea typeface="PingFang SC"/>
                <a:cs typeface="PingFang SC"/>
              </a:rPr>
              <a:t>保存理论优惠、实际优惠、差异、费用汇总等核算结果；口径和版本待统一</a:t>
            </a:r>
            <a:endParaRPr sz="1100"/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E2FDEFF6-9307-4D69-9DBA-BFF145A61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2857500"/>
            <a:ext cx="6985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55E9A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099FE877-493B-4C36-9502-4CD006D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30226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>
                <a:solidFill>
                  <a:schemeClr val="bg1"/>
                </a:solidFill>
              </a:rPr>
              <a:t>事实层</a:t>
            </a:r>
            <a:endParaRPr sz="1100">
              <a:solidFill>
                <a:schemeClr val="bg1"/>
              </a:solidFill>
            </a:endParaR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61DC67EA-B802-4672-A734-6FB98626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3327400"/>
            <a:ext cx="660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DCE8F5"/>
                </a:solidFill>
                <a:latin typeface="PingFang SC"/>
                <a:ea typeface="PingFang SC"/>
                <a:cs typeface="PingFang SC"/>
              </a:rPr>
              <a:t>客户、商品、订单、履约、活动等业务对象及关联 · 快马舟谱已入库</a:t>
            </a:r>
            <a:endParaRPr sz="1100"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659EEFFA-6828-4C36-A479-6DD06AF7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3873500"/>
            <a:ext cx="6985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AF0">
              <a:alpha val="100000"/>
            </a:srgbClr>
          </a:solidFill>
          <a:ln xmlns:a="http://schemas.openxmlformats.org/drawingml/2006/main" w="25400" cmpd="sng">
            <a:solidFill>
              <a:srgbClr val="E87A2E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615F00E-9941-425A-9A33-0768F52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4038600"/>
            <a:ext cx="254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E87A2E"/>
                </a:solidFill>
                <a:latin typeface="PingFang SC"/>
                <a:ea typeface="PingFang SC"/>
                <a:cs typeface="PingFang SC"/>
              </a:rPr>
              <a:t>标准层</a:t>
            </a:r>
            <a:r>
              <a:rPr sz="1100" b="1" i="0" u="none" strike="noStrike">
                <a:solidFill>
                  <a:srgbClr val="E87A2E"/>
                </a:solidFill>
                <a:latin typeface="PingFang SC"/>
                <a:ea typeface="PingFang SC"/>
                <a:cs typeface="PingFang SC"/>
              </a:rPr>
              <a:t> </a:t>
            </a:r>
            <a:endParaRPr sz="1100"/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EC88DAE2-F0A6-4C90-8DC8-74EACC6B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4381500"/>
            <a:ext cx="6604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>字段映射已完成，标准化记录、质量检查和标准表待补</a:t>
            </a:r>
            <a:endParaRPr sz="1100"/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602BFA25-5250-46DB-A0DA-9413274C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0" y="4889500"/>
            <a:ext cx="69850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0F2F5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B7AD5546-88B1-4BBB-B1C1-7A982A5E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5054600"/>
            <a:ext cx="127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/>
              <a:t>原始</a:t>
            </a:r>
            <a:r>
              <a:rPr sz="1100"/>
              <a:t>层</a:t>
            </a:r>
            <a:endParaRPr sz="1100"/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6BC7370D-02EA-4B61-9BCF-B967BFD5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7600" y="5397500"/>
            <a:ext cx="6604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登记来源、批次、源文件；后续补逐行原始数据和行级对应</a:t>
            </a:r>
            <a:endParaRPr sz="1100"/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98545C79-35D4-45F1-BCA2-439A59DA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B8794"/>
                </a:solidFill>
                <a:latin typeface="PingFang SC"/>
                <a:ea typeface="PingFang SC"/>
                <a:cs typeface="PingFang SC"/>
              </a:rPr>
              <a:t>来源：EC101 IT 工作进展说明 · 2026-09-27</a:t>
            </a:r>
            <a:endParaRPr sz="1100"/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307BE4BB-B83F-4CFB-8172-C33F04E7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8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EC101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8733271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05E39E8-11FF-4A09-A86B-D089C08C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41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2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阶段三：费用运营平台功能展示</a:t>
            </a:r>
            <a:endParaRPr sz="1100"/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E53BB58-E047-4124-860A-4815556D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11163300" cy="190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9E2EC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706725F-009F-41ED-9B51-EB1D130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0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31B2396-2A7D-4AC9-ACDB-B1FA6324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1500"/>
            <a:ext cx="55880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7E6B992-74F2-4B54-A291-8860FB9E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006600"/>
            <a:ext cx="38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F80ECC5-848E-4131-8E79-B14F2EC8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66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5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AD622A-52A7-4C6A-A87B-D58FF71E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9500"/>
            <a:ext cx="482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000" b="0" i="0" u="none" strike="noStrike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A2CE6E40-A7A9-4565-B5B6-D4609012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819400"/>
            <a:ext cx="25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788291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BE69949E-17D8-424B-90F0-3BA2E44A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5588000" cy="107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5E5A24F-3AC9-4A4B-BB22-9E4BE279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3251200"/>
            <a:ext cx="38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F406C267-3468-4270-BCF0-0B0DA4CA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512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5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00747C13-FC55-412D-B81E-F9908265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94100"/>
            <a:ext cx="482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000" b="0" i="0" u="none" strike="noStrike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447D21EC-430E-4913-9060-15AA29B5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4216400"/>
            <a:ext cx="25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200" b="0" i="0" u="none" strike="noStrike">
                <a:solidFill>
                  <a:srgbClr val="788291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88936273-7ABA-4DF2-A3EE-8926BD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70400"/>
            <a:ext cx="5588000" cy="107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DF5EF">
              <a:alpha val="100000"/>
            </a:srgbClr>
          </a:solidFill>
          <a:ln xmlns:a="http://schemas.openxmlformats.org/drawingml/2006/main" w="25400" cmpd="sng">
            <a:solidFill>
              <a:srgbClr val="155E9A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EAE3B07F-7692-49A7-9F67-E6CAEE6A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635500"/>
            <a:ext cx="38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2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56205FE9-BB9A-4C00-A82B-77B47E42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35500"/>
            <a:ext cx="482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5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6DD7131D-EBEF-4EC4-9E10-14ABBBAA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8400"/>
            <a:ext cx="482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00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68644ECC-7DEC-4B8A-B38F-57734BDF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0500"/>
            <a:ext cx="5080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900" b="0" i="0" u="none" strike="noStrike" spc="1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46AF7FD0-F2EF-43E8-8797-2E6E00F5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51943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100000"/>
            </a:srgbClr>
          </a:solidFill>
          <a:ln xmlns:a="http://schemas.openxmlformats.org/drawingml/2006/main" w="12700" cmpd="sng">
            <a:solidFill>
              <a:srgbClr val="D9E2EC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754FF7D2-BA87-4D66-8AC8-CE864F4A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32000"/>
            <a:ext cx="469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155E9A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7A0BF5C6-01E6-4816-9E97-AFBEB62B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7600"/>
            <a:ext cx="47625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D0E94E25-2D3C-4354-8A0B-CEE7456A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56000"/>
            <a:ext cx="5194300" cy="1727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AF0">
              <a:alpha val="100000"/>
            </a:srgbClr>
          </a:solidFill>
          <a:ln xmlns:a="http://schemas.openxmlformats.org/drawingml/2006/main" w="12700" cmpd="sng">
            <a:solidFill>
              <a:srgbClr val="E87A2E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8E0CC460-5A57-4645-9B46-24666C9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46500"/>
            <a:ext cx="4699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100" b="1" i="0" u="none" strike="noStrike">
                <a:solidFill>
                  <a:srgbClr val="E87A2E"/>
                </a:solidFill>
                <a:latin typeface="PingFang SC"/>
                <a:ea typeface="PingFang SC"/>
                <a:cs typeface="PingFang SC"/>
              </a:rPr>
              <a:t/>
            </a:r>
            <a:endParaRPr sz="1100"/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C038D5ED-F055-4480-AC44-E8ED0C6E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89400"/>
            <a:ext cx="47625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33000"/>
              </a:lnSpc>
              <a:buNone/>
            </a:pPr>
            <a:r>
              <a:rPr sz="1050" b="0" i="0" u="none" strike="noStrike">
                <a:solidFill>
                  <a:srgbClr val="2E3846"/>
                </a:solidFill>
                <a:latin typeface="PingFang SC"/>
                <a:ea typeface="PingFang SC"/>
                <a:cs typeface="PingFang SC"/>
              </a:rPr>
              <a:t/>
            </a:r>
            <a:endParaRPr sz="1050" b="0" i="0" u="none" strike="noStrike">
              <a:solidFill>
                <a:srgbClr val="2E3846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4BCD386F-7041-442B-B399-909F5DC9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800" b="0" i="0" u="none" strike="noStrike">
                <a:solidFill>
                  <a:srgbClr val="7B8794"/>
                </a:solidFill>
                <a:latin typeface="PingFang SC"/>
                <a:ea typeface="PingFang SC"/>
                <a:cs typeface="PingFang SC"/>
              </a:rPr>
              <a:t>来源：EC101 IT 工作进展说明 · 2026-09-27</a:t>
            </a:r>
            <a:endParaRPr sz="1100"/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6255E61D-CA54-47E6-A630-46D59B96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r">
              <a:lnSpc>
                <a:spcPct val="125000"/>
              </a:lnSpc>
              <a:buNone/>
            </a:pPr>
            <a:r>
              <a:rPr sz="800" b="1" i="0" u="none" strike="noStrike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EC101</a:t>
            </a:r>
            <a:endParaRPr sz="1100"/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47ADE3-C491-457D-AF3E-1456DA33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1C05B3-6FC9-4152-B94C-E0B525F2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D6B7D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页面直接读取已核验快照，支持业务查询、活动查看与权益结果追溯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5F12D2-F2DF-4F21-B10D-D1CC8DA5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19275"/>
            <a:ext cx="54864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D5D2AA-143E-4F7F-9D64-8645BD46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50" b="1">
                <a:solidFill>
                  <a:srgbClr val="0B2D52"/>
                </a:solidFill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业务数据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AB6E45-6DE7-47BF-8B42-11CB02FB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D6B7D"/>
                </a:solidFill>
                <a:latin typeface="PingFang SC"/>
                <a:ea typeface="PingFang SC"/>
                <a:cs typeface="PingFang SC"/>
              </a:defRPr>
            </a:pPr>
            <a:r>
              <a:rPr sz="8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按订单、订单明细、活动等标准化对象查询真实入库数据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8b3c15af64617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571750"/>
            <a:ext cx="5219700" cy="29337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E11F67-EF70-43EF-8BF6-F406AC71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D6B7D"/>
                </a:solidFill>
                <a:latin typeface="PingFang SC"/>
                <a:ea typeface="PingFang SC"/>
                <a:cs typeface="PingFang SC"/>
              </a:defRPr>
            </a:pPr>
            <a:r>
              <a:rPr sz="8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当前示例：订单对象共 9,622 行，支持经销商筛选、详情下钻与导出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A76051-10E8-4E21-9153-BC3AC31B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54864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8D70DD-35CF-4DDB-8878-45E91699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50" b="1">
                <a:solidFill>
                  <a:srgbClr val="0B2D52"/>
                </a:solidFill>
                <a:latin typeface="PingFang SC"/>
                <a:ea typeface="PingFang SC"/>
                <a:cs typeface="PingFang SC"/>
              </a:defRPr>
            </a:pPr>
            <a:r>
              <a:rPr sz="1150" b="1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活动中心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F0C959-19EC-4E16-AED0-7B708ED3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57425"/>
            <a:ext cx="5048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D6B7D"/>
                </a:solidFill>
                <a:latin typeface="PingFang SC"/>
                <a:ea typeface="PingFang SC"/>
                <a:cs typeface="PingFang SC"/>
              </a:defRPr>
            </a:pPr>
            <a:r>
              <a:rPr sz="8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集中查看活动执行状态、权益结果与待确认事项</a:t>
            </a:r>
          </a:p>
        </p:txBody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f71ebfa7e4cda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571750"/>
            <a:ext cx="5219700" cy="293370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E1CDDF7-2F27-45D2-9AFC-072CDC62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1500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50">
                <a:solidFill>
                  <a:srgbClr val="5D6B7D"/>
                </a:solidFill>
                <a:latin typeface="PingFang SC"/>
                <a:ea typeface="PingFang SC"/>
                <a:cs typeface="PingFang SC"/>
              </a:defRPr>
            </a:pPr>
            <a:r>
              <a:rPr sz="850">
                <a:solidFill>
                  <a:srgbClr val="5D6B7D"/>
                </a:solidFill>
                <a:latin typeface="PingFang SC"/>
                <a:ea typeface="PingFang SC"/>
                <a:cs typeface="PingFang SC"/>
              </a:rPr>
              <a:t>当前示例：满减、满赠、返券等活动按金额权益与赠品权益分别展示</a:t>
            </a:r>
          </a:p>
        </p:txBody>
      </p:sp>
    </p:spTree>
    <p:extLst>
      <p:ext uri="{BB962C8B-B14F-4D97-AF65-F5344CB8AC3E}">
        <p14:creationId xmlns:p14="http://schemas.microsoft.com/office/powerpoint/2010/main" val="106667572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6BAF924-2C66-4B8F-9E26-4AC7022B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1041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200" b="1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下一阶段</a:t>
            </a:r>
            <a:r>
              <a:rPr sz="2200" b="1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工作</a:t>
            </a:r>
            <a:r>
              <a:rPr sz="2200" b="1">
                <a:solidFill>
                  <a:srgbClr val="0B2D52"/>
                </a:solidFill>
                <a:latin typeface="PingFang SC"/>
                <a:ea typeface="PingFang SC"/>
                <a:cs typeface="PingFang SC"/>
              </a:rPr>
              <a:t>计划</a:t>
            </a:r>
            <a:endParaRPr sz="2200" b="1">
              <a:solidFill>
                <a:srgbClr val="0B2D52"/>
              </a:solidFill>
              <a:latin typeface="PingFang SC"/>
              <a:ea typeface="PingFang SC"/>
              <a:cs typeface="PingFang SC"/>
            </a:endParaRPr>
          </a:p>
        </p:txBody>
      </p:sp>
      <p:graphicFrame>
        <p:nvGraphicFramePr>
          <p:cNvPr id="5" name="表格 2"/>
          <p:cNvGraphicFramePr/>
          <p:nvPr/>
        </p:nvGraphicFramePr>
        <p:xfrm>
          <a:off xmlns:a="http://schemas.openxmlformats.org/drawingml/2006/main" x="365125" y="1600200"/>
          <a:ext xmlns:a="http://schemas.openxmlformats.org/drawingml/2006/main" cx="11461750" cy="451548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22655"/>
                <a:gridCol w="1375410"/>
                <a:gridCol w="738505"/>
                <a:gridCol w="738505"/>
                <a:gridCol w="737870"/>
                <a:gridCol w="1799590"/>
                <a:gridCol w="574675"/>
                <a:gridCol w="574040"/>
                <a:gridCol w="574675"/>
                <a:gridCol w="574040"/>
                <a:gridCol w="574675"/>
                <a:gridCol w="574675"/>
                <a:gridCol w="574040"/>
                <a:gridCol w="574675"/>
                <a:gridCol w="553720"/>
              </a:tblGrid>
              <a:tr h="1746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</a:rPr>
                        <a:t>状态图例</a:t>
                      </a:r>
                      <a:endParaRPr sz="700" b="1" i="0">
                        <a:solidFill>
                          <a:srgbClr val="000000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已完成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进行中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计划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/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调整预留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000000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noFill/>
                  </a:tcPr>
                </a:tc>
              </a:tr>
              <a:tr h="3117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工作流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任务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开始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状态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关键交付物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09/02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09/07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09/14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09/21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09/28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10/05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10/12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10/19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10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月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24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日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业务闭环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业务梳理与数据准入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2026-09-02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2026-09-11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已完成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活动规则、数据源与准入口径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业务梳理与数据准入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497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业务闭环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多平台活动闭环验证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2026-09-12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2026-09-18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已完成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快马、舟谱闭环验证；财经云延后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多平台活动闭环验证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数据底座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双平台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MVP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共库与核算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2026-09-19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2026-09-24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已完成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双平台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CORE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、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RESULT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、血缘与核验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双平台 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MVP 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共库与核算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数据底座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数据缺口确认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2026-09-25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2026-10-02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进行中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业务员数据、其他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家经销商活动数据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入库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完成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6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家经销商全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量数据入库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产品设计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费用平台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V1 PRD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、原型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2026-09-25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2026-09-27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进行中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TPM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运营台、业务数据模块、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KPI /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分销预留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费用平台 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V1 PRD </a:t>
                      </a: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与接口口径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服务层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本地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SQLite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真实数据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API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与前端联调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2026-09-26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2026-10-03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计划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跨平台只读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API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、订单查询、业务数据筛选与导出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本地真实数据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API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与前端联调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1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费用平台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V1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真实数据展示页面与查询联调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2026-10-05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2026-10-16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进行中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经销商总览、业务数据、活动台账、订单证据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6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真实数据展示与查询联调</a:t>
                      </a:r>
                      <a:endParaRPr sz="6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1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增长运营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KPI / 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分销模块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/</a:t>
                      </a: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竞品分析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2026-10-05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2026-10-09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计划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0" i="0">
                          <a:solidFill>
                            <a:srgbClr val="1F1F1F"/>
                          </a:solidFill>
                          <a:latin typeface="Aptos"/>
                          <a:ea typeface="Aptos"/>
                          <a:cs typeface="Aptos"/>
                        </a:rPr>
                        <a:t>保留入口、数据依赖和后续接口，不开发正式指标</a:t>
                      </a: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KPI / 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分销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/</a:t>
                      </a: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竞品分销架构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700" b="0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1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600" b="1" i="0">
                        <a:solidFill>
                          <a:srgbClr val="1F1F1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验收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测试以及使用培训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2026-10-12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2026-10-16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计划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真实案例演示、操作说明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700" b="1" i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真实数据测试</a:t>
                      </a:r>
                      <a:endParaRPr sz="700" b="1" i="0">
                        <a:solidFill>
                          <a:srgbClr val="FFFFFF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FFFFFF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调整预留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修复、口径调整与验收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2026-10-19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2026-10-24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调整预留</a:t>
                      </a:r>
                      <a:endParaRPr sz="800" b="1" i="0">
                        <a:solidFill>
                          <a:srgbClr val="FFFFF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00" b="0" i="0">
                          <a:solidFill>
                            <a:srgbClr val="1F1F1F"/>
                          </a:solidFill>
                          <a:latin typeface="Carlito"/>
                          <a:ea typeface="Carlito"/>
                          <a:cs typeface="Carlito"/>
                        </a:rPr>
                        <a:t>只处理已发现问题，不新增范围</a:t>
                      </a: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800" b="0" i="0">
                        <a:solidFill>
                          <a:srgbClr val="1F1F1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b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D9E2F3"/>
                      </a:solidFill>
                      <a:prstDash val="solid"/>
                    </a:lnR>
                    <a:lnT w="6350" cmpd="sng">
                      <a:solidFill>
                        <a:srgbClr val="FFFFFF"/>
                      </a:solidFill>
                      <a:prstDash val="solid"/>
                    </a:lnT>
                    <a:lnB w="6350" cmpd="sng">
                      <a:solidFill>
                        <a:srgbClr val="D9E2F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800" b="1" i="0">
                          <a:solidFill>
                            <a:srgbClr val="FFFFFF"/>
                          </a:solidFill>
                          <a:latin typeface="Carlito"/>
                          <a:ea typeface="Carlito"/>
                          <a:cs typeface="Carlito"/>
                        </a:rPr>
                        <a:t>修复、口径调整与验收</a:t>
                      </a:r>
                      <a:endParaRPr sz="800" b="1" i="0">
                        <a:solidFill>
                          <a:srgbClr val="FFFFFF"/>
                        </a:solidFill>
                        <a:latin typeface="Carlito"/>
                        <a:ea typeface="Carlito"/>
                        <a:cs typeface="Carlito"/>
                      </a:endParaRPr>
                    </a:p>
                  </a:txBody>
                  <a:tcPr marL="13017" marR="13017" marT="13017" marB="0" anchor="ctr" anchorCtr="0">
                    <a:lnL w="6350" cmpd="sng">
                      <a:solidFill>
                        <a:srgbClr val="D9E2F3"/>
                      </a:solidFill>
                      <a:prstDash val="solid"/>
                    </a:lnL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8064A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91440" marR="91440" marT="45720" marB="45720">
                    <a:lnR w="6350" cmpd="sng">
                      <a:solidFill>
                        <a:srgbClr val="FFFFFF"/>
                      </a:solidFill>
                      <a:prstDash val="solid"/>
                    </a:lnR>
                    <a:lnT w="6350" cmpd="sng">
                      <a:solidFill>
                        <a:srgbClr val="D9E2F3"/>
                      </a:solidFill>
                      <a:prstDash val="solid"/>
                    </a:lnT>
                    <a:lnB w="6350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25338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2026-09-28T04:33:38.2670000Z</dcterms:created>
  <dcterms:modified xsi:type="dcterms:W3CDTF">2026-09-28T04:33:38.2670000Z</dcterms:modified>
</coreProperties>
</file>